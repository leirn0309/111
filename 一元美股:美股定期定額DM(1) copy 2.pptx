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5" r:id="rId1"/>
  </p:sldMasterIdLst>
  <p:notesMasterIdLst>
    <p:notesMasterId r:id="rId36"/>
  </p:notesMasterIdLst>
  <p:handoutMasterIdLst>
    <p:handoutMasterId r:id="rId37"/>
  </p:handoutMasterIdLst>
  <p:sldIdLst>
    <p:sldId id="2039" r:id="rId2"/>
    <p:sldId id="2040" r:id="rId3"/>
    <p:sldId id="2041" r:id="rId4"/>
    <p:sldId id="2042" r:id="rId5"/>
    <p:sldId id="2043" r:id="rId6"/>
    <p:sldId id="2044" r:id="rId7"/>
    <p:sldId id="2045" r:id="rId8"/>
    <p:sldId id="2046" r:id="rId9"/>
    <p:sldId id="2047" r:id="rId10"/>
    <p:sldId id="2048" r:id="rId11"/>
    <p:sldId id="2049" r:id="rId12"/>
    <p:sldId id="2050" r:id="rId13"/>
    <p:sldId id="2051" r:id="rId14"/>
    <p:sldId id="2052" r:id="rId15"/>
    <p:sldId id="2053" r:id="rId16"/>
    <p:sldId id="2054" r:id="rId17"/>
    <p:sldId id="2055" r:id="rId18"/>
    <p:sldId id="2056" r:id="rId19"/>
    <p:sldId id="2057" r:id="rId20"/>
    <p:sldId id="2058" r:id="rId21"/>
    <p:sldId id="2059" r:id="rId22"/>
    <p:sldId id="2060" r:id="rId23"/>
    <p:sldId id="2061" r:id="rId24"/>
    <p:sldId id="2062" r:id="rId25"/>
    <p:sldId id="2063" r:id="rId26"/>
    <p:sldId id="2064" r:id="rId27"/>
    <p:sldId id="2065" r:id="rId28"/>
    <p:sldId id="2066" r:id="rId29"/>
    <p:sldId id="2067" r:id="rId30"/>
    <p:sldId id="2068" r:id="rId31"/>
    <p:sldId id="2069" r:id="rId32"/>
    <p:sldId id="2071" r:id="rId33"/>
    <p:sldId id="2072" r:id="rId34"/>
    <p:sldId id="2070" r:id="rId35"/>
  </p:sldIdLst>
  <p:sldSz cx="9144000" cy="6858000" type="screen4x3"/>
  <p:notesSz cx="9866313" cy="673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E9"/>
    <a:srgbClr val="0000FF"/>
    <a:srgbClr val="006600"/>
    <a:srgbClr val="CC00FF"/>
    <a:srgbClr val="FFFFCC"/>
    <a:srgbClr val="FC9A08"/>
    <a:srgbClr val="FFC000"/>
    <a:srgbClr val="FFFFFF"/>
    <a:srgbClr val="5F5F5F"/>
    <a:srgbClr val="E860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1404" autoAdjust="0"/>
  </p:normalViewPr>
  <p:slideViewPr>
    <p:cSldViewPr snapToGrid="0">
      <p:cViewPr varScale="1">
        <p:scale>
          <a:sx n="90" d="100"/>
          <a:sy n="90" d="100"/>
        </p:scale>
        <p:origin x="216" y="296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5C-E940-8990-E3CEDAD88C21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5C-E940-8990-E3CEDAD88C21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5C-E940-8990-E3CEDAD88C21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5C-E940-8990-E3CEDAD88C21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75C-E940-8990-E3CEDAD88C2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75C-E940-8990-E3CEDAD88C2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75C-E940-8990-E3CEDAD88C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Sheet9!$A$206:$A$210</c:f>
              <c:strCache>
                <c:ptCount val="5"/>
                <c:pt idx="0">
                  <c:v>金融服務</c:v>
                </c:pt>
                <c:pt idx="1">
                  <c:v>工業</c:v>
                </c:pt>
                <c:pt idx="2">
                  <c:v>科技</c:v>
                </c:pt>
                <c:pt idx="3">
                  <c:v>非必需消費</c:v>
                </c:pt>
                <c:pt idx="4">
                  <c:v>基礎材料</c:v>
                </c:pt>
              </c:strCache>
            </c:strRef>
          </c:cat>
          <c:val>
            <c:numRef>
              <c:f>Sheet9!$B$206:$B$210</c:f>
              <c:numCache>
                <c:formatCode>0.00%</c:formatCode>
                <c:ptCount val="5"/>
                <c:pt idx="0">
                  <c:v>0.2248</c:v>
                </c:pt>
                <c:pt idx="1">
                  <c:v>0.15920000000000001</c:v>
                </c:pt>
                <c:pt idx="2">
                  <c:v>0.1585</c:v>
                </c:pt>
                <c:pt idx="3">
                  <c:v>8.8200000000000001E-2</c:v>
                </c:pt>
                <c:pt idx="4">
                  <c:v>7.8899999999999998E-2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75C-E940-8990-E3CEDAD88C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F5-C74A-B169-0472C26C7319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F5-C74A-B169-0472C26C7319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F5-C74A-B169-0472C26C7319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F5-C74A-B169-0472C26C7319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7F5-C74A-B169-0472C26C731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7F5-C74A-B169-0472C26C731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7F5-C74A-B169-0472C26C73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Sheet9!$A$212:$A$216</c:f>
              <c:strCache>
                <c:ptCount val="5"/>
                <c:pt idx="0">
                  <c:v>金融服務</c:v>
                </c:pt>
                <c:pt idx="1">
                  <c:v>能源</c:v>
                </c:pt>
                <c:pt idx="2">
                  <c:v>非必需消費</c:v>
                </c:pt>
                <c:pt idx="3">
                  <c:v>工業</c:v>
                </c:pt>
                <c:pt idx="4">
                  <c:v>科技</c:v>
                </c:pt>
              </c:strCache>
            </c:strRef>
          </c:cat>
          <c:val>
            <c:numRef>
              <c:f>Sheet9!$B$212:$B$216</c:f>
              <c:numCache>
                <c:formatCode>0.00%</c:formatCode>
                <c:ptCount val="5"/>
                <c:pt idx="0">
                  <c:v>0.25419999999999998</c:v>
                </c:pt>
                <c:pt idx="1">
                  <c:v>0.19769999999999999</c:v>
                </c:pt>
                <c:pt idx="2">
                  <c:v>0.17699999999999999</c:v>
                </c:pt>
                <c:pt idx="3">
                  <c:v>0.1459</c:v>
                </c:pt>
                <c:pt idx="4">
                  <c:v>5.8999999999999997E-2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F5-C74A-B169-0472C26C7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7A-B843-9392-27BAC676C4BA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7A-B843-9392-27BAC676C4BA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7A-B843-9392-27BAC676C4BA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77A-B843-9392-27BAC676C4BA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77A-B843-9392-27BAC676C4B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77A-B843-9392-27BAC676C4BA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77A-B843-9392-27BAC676C4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Sheet9!$A$218:$A$222</c:f>
              <c:strCache>
                <c:ptCount val="5"/>
                <c:pt idx="0">
                  <c:v>工業</c:v>
                </c:pt>
                <c:pt idx="1">
                  <c:v>基礎材料</c:v>
                </c:pt>
                <c:pt idx="2">
                  <c:v>非必需消費</c:v>
                </c:pt>
                <c:pt idx="3">
                  <c:v>金融服務</c:v>
                </c:pt>
                <c:pt idx="4">
                  <c:v>能源</c:v>
                </c:pt>
              </c:strCache>
            </c:strRef>
          </c:cat>
          <c:val>
            <c:numRef>
              <c:f>Sheet9!$B$218:$B$222</c:f>
              <c:numCache>
                <c:formatCode>0.00%</c:formatCode>
                <c:ptCount val="5"/>
                <c:pt idx="0">
                  <c:v>0.23619999999999999</c:v>
                </c:pt>
                <c:pt idx="1">
                  <c:v>0.20480000000000001</c:v>
                </c:pt>
                <c:pt idx="2">
                  <c:v>0.1497</c:v>
                </c:pt>
                <c:pt idx="3">
                  <c:v>0.1419</c:v>
                </c:pt>
                <c:pt idx="4">
                  <c:v>0.11219999999999999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7A-B843-9392-27BAC676C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27D-024F-A870-E9F362DC0B53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27D-024F-A870-E9F362DC0B53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27D-024F-A870-E9F362DC0B53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27D-024F-A870-E9F362DC0B53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27D-024F-A870-E9F362DC0B5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27D-024F-A870-E9F362DC0B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27D-024F-A870-E9F362DC0B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Sheet9!$A$224:$A$228</c:f>
              <c:strCache>
                <c:ptCount val="5"/>
                <c:pt idx="0">
                  <c:v>金融服務</c:v>
                </c:pt>
                <c:pt idx="1">
                  <c:v>工業</c:v>
                </c:pt>
                <c:pt idx="2">
                  <c:v>科技</c:v>
                </c:pt>
                <c:pt idx="3">
                  <c:v>非必需消費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Sheet9!$B$224:$B$228</c:f>
              <c:numCache>
                <c:formatCode>0.00%</c:formatCode>
                <c:ptCount val="5"/>
                <c:pt idx="0">
                  <c:v>0.24729999999999999</c:v>
                </c:pt>
                <c:pt idx="1">
                  <c:v>0.2079</c:v>
                </c:pt>
                <c:pt idx="2">
                  <c:v>0.15479999999999999</c:v>
                </c:pt>
                <c:pt idx="3">
                  <c:v>0.10340000000000001</c:v>
                </c:pt>
                <c:pt idx="4">
                  <c:v>5.8500000000000003E-2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27D-024F-A870-E9F362DC0B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91D-FB43-9938-0EC3C800CA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Sheet9!$P$7</c:f>
              <c:strCache>
                <c:ptCount val="1"/>
                <c:pt idx="0">
                  <c:v>基礎材料</c:v>
                </c:pt>
              </c:strCache>
            </c:strRef>
          </c:cat>
          <c:val>
            <c:numRef>
              <c:f>Sheet9!$Q$7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1D-FB43-9938-0EC3C800C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73-2A4C-AD17-263C6D3E9753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73-2A4C-AD17-263C6D3E9753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73-2A4C-AD17-263C6D3E9753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73-2A4C-AD17-263C6D3E9753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173-2A4C-AD17-263C6D3E975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173-2A4C-AD17-263C6D3E97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173-2A4C-AD17-263C6D3E9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Sheet9!$A$232:$A$236</c:f>
              <c:strCache>
                <c:ptCount val="5"/>
                <c:pt idx="0">
                  <c:v>金融服務</c:v>
                </c:pt>
                <c:pt idx="1">
                  <c:v>工業</c:v>
                </c:pt>
                <c:pt idx="2">
                  <c:v>科技</c:v>
                </c:pt>
                <c:pt idx="3">
                  <c:v>非必需消費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Sheet9!$B$232:$B$236</c:f>
              <c:numCache>
                <c:formatCode>0.00%</c:formatCode>
                <c:ptCount val="5"/>
                <c:pt idx="0">
                  <c:v>0.16869999999999999</c:v>
                </c:pt>
                <c:pt idx="1">
                  <c:v>0.15679999999999999</c:v>
                </c:pt>
                <c:pt idx="2">
                  <c:v>0.14360000000000001</c:v>
                </c:pt>
                <c:pt idx="3">
                  <c:v>0.13689999999999999</c:v>
                </c:pt>
                <c:pt idx="4">
                  <c:v>0.1115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173-2A4C-AD17-263C6D3E97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81-E944-ACB5-DD8C64B9AE0C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81-E944-ACB5-DD8C64B9AE0C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81-E944-ACB5-DD8C64B9AE0C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81-E944-ACB5-DD8C64B9AE0C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781-E944-ACB5-DD8C64B9AE0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781-E944-ACB5-DD8C64B9AE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Sheet9!$A$238:$A$241</c:f>
              <c:strCache>
                <c:ptCount val="4"/>
                <c:pt idx="0">
                  <c:v>科技</c:v>
                </c:pt>
                <c:pt idx="1">
                  <c:v>通訊服務</c:v>
                </c:pt>
                <c:pt idx="2">
                  <c:v>工業</c:v>
                </c:pt>
                <c:pt idx="3">
                  <c:v>非必需消費</c:v>
                </c:pt>
              </c:strCache>
            </c:strRef>
          </c:cat>
          <c:val>
            <c:numRef>
              <c:f>Sheet9!$B$238:$B$241</c:f>
              <c:numCache>
                <c:formatCode>0.00%</c:formatCode>
                <c:ptCount val="4"/>
                <c:pt idx="0">
                  <c:v>0.81850000000000001</c:v>
                </c:pt>
                <c:pt idx="1">
                  <c:v>0.16930000000000001</c:v>
                </c:pt>
                <c:pt idx="2">
                  <c:v>7.6E-3</c:v>
                </c:pt>
                <c:pt idx="3">
                  <c:v>4.4999999999999997E-3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781-E944-ACB5-DD8C64B9A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F9-D442-8622-FB5323393BD4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F9-D442-8622-FB5323393BD4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F9-D442-8622-FB5323393BD4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CF9-D442-8622-FB5323393BD4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CF9-D442-8622-FB5323393BD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CF9-D442-8622-FB5323393BD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CF9-D442-8622-FB5323393B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Sheet9!$A$243:$A$247</c:f>
              <c:strCache>
                <c:ptCount val="5"/>
                <c:pt idx="0">
                  <c:v>工業</c:v>
                </c:pt>
                <c:pt idx="1">
                  <c:v>科技</c:v>
                </c:pt>
                <c:pt idx="2">
                  <c:v>金融服務</c:v>
                </c:pt>
                <c:pt idx="3">
                  <c:v>非必需消費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Sheet9!$B$243:$B$247</c:f>
              <c:numCache>
                <c:formatCode>0.00%</c:formatCode>
                <c:ptCount val="5"/>
                <c:pt idx="0">
                  <c:v>0.17860000000000001</c:v>
                </c:pt>
                <c:pt idx="1">
                  <c:v>0.15490000000000001</c:v>
                </c:pt>
                <c:pt idx="2">
                  <c:v>0.1244</c:v>
                </c:pt>
                <c:pt idx="3">
                  <c:v>0.1154</c:v>
                </c:pt>
                <c:pt idx="4">
                  <c:v>9.3399999999999997E-2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F9-D442-8622-FB5323393B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1D0-2C47-808D-C1AFBA5CFE3F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1D0-2C47-808D-C1AFBA5CFE3F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1D0-2C47-808D-C1AFBA5CFE3F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1D0-2C47-808D-C1AFBA5CFE3F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1D0-2C47-808D-C1AFBA5CFE3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1D0-2C47-808D-C1AFBA5CFE3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1D0-2C47-808D-C1AFBA5CFE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Sheet9!$A$249:$A$253</c:f>
              <c:strCache>
                <c:ptCount val="5"/>
                <c:pt idx="0">
                  <c:v>科技</c:v>
                </c:pt>
                <c:pt idx="1">
                  <c:v>非必需消費</c:v>
                </c:pt>
                <c:pt idx="2">
                  <c:v>通訊服務</c:v>
                </c:pt>
                <c:pt idx="3">
                  <c:v>醫療保健</c:v>
                </c:pt>
                <c:pt idx="4">
                  <c:v>金融服務</c:v>
                </c:pt>
              </c:strCache>
            </c:strRef>
          </c:cat>
          <c:val>
            <c:numRef>
              <c:f>Sheet9!$B$249:$B$253</c:f>
              <c:numCache>
                <c:formatCode>0.00%</c:formatCode>
                <c:ptCount val="5"/>
                <c:pt idx="0">
                  <c:v>0.50470000000000004</c:v>
                </c:pt>
                <c:pt idx="1">
                  <c:v>0.1321</c:v>
                </c:pt>
                <c:pt idx="2">
                  <c:v>0.124</c:v>
                </c:pt>
                <c:pt idx="3">
                  <c:v>8.0500000000000002E-2</c:v>
                </c:pt>
                <c:pt idx="4">
                  <c:v>5.7099999999999998E-2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1D0-2C47-808D-C1AFBA5CF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F4-214E-869B-02EE025B8104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F4-214E-869B-02EE025B8104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F4-214E-869B-02EE025B8104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7F4-214E-869B-02EE025B8104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7F4-214E-869B-02EE025B810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7F4-214E-869B-02EE025B810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7F4-214E-869B-02EE025B81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Sheet9!$A$255:$A$259</c:f>
              <c:strCache>
                <c:ptCount val="5"/>
                <c:pt idx="0">
                  <c:v>金融服務</c:v>
                </c:pt>
                <c:pt idx="1">
                  <c:v>工業</c:v>
                </c:pt>
                <c:pt idx="2">
                  <c:v>科技</c:v>
                </c:pt>
                <c:pt idx="3">
                  <c:v>醫療保健</c:v>
                </c:pt>
                <c:pt idx="4">
                  <c:v>通訊服務</c:v>
                </c:pt>
              </c:strCache>
            </c:strRef>
          </c:cat>
          <c:val>
            <c:numRef>
              <c:f>Sheet9!$B$255:$B$259</c:f>
              <c:numCache>
                <c:formatCode>0.00%</c:formatCode>
                <c:ptCount val="5"/>
                <c:pt idx="0">
                  <c:v>0.19589999999999999</c:v>
                </c:pt>
                <c:pt idx="1">
                  <c:v>0.1318</c:v>
                </c:pt>
                <c:pt idx="2">
                  <c:v>0.1245</c:v>
                </c:pt>
                <c:pt idx="3">
                  <c:v>0.1172</c:v>
                </c:pt>
                <c:pt idx="4">
                  <c:v>7.9699999999999993E-2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F4-214E-869B-02EE025B81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7E9-8149-8585-AA69AE13A000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7E9-8149-8585-AA69AE13A000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7E9-8149-8585-AA69AE13A00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7E9-8149-8585-AA69AE13A00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7E9-8149-8585-AA69AE13A00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Sheet9!$A$261:$A$263</c:f>
              <c:strCache>
                <c:ptCount val="3"/>
                <c:pt idx="0">
                  <c:v>基本材料</c:v>
                </c:pt>
                <c:pt idx="1">
                  <c:v>能源</c:v>
                </c:pt>
                <c:pt idx="2">
                  <c:v>工業</c:v>
                </c:pt>
              </c:strCache>
            </c:strRef>
          </c:cat>
          <c:val>
            <c:numRef>
              <c:f>Sheet9!$B$261:$B$263</c:f>
              <c:numCache>
                <c:formatCode>0.00%</c:formatCode>
                <c:ptCount val="3"/>
                <c:pt idx="0">
                  <c:v>0.75780000000000003</c:v>
                </c:pt>
                <c:pt idx="1">
                  <c:v>0.1835</c:v>
                </c:pt>
                <c:pt idx="2">
                  <c:v>5.8700000000000002E-2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7E9-8149-8585-AA69AE13A0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A16-3543-A636-85C99DE854F0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A16-3543-A636-85C99DE854F0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16-3543-A636-85C99DE854F0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A16-3543-A636-85C99DE854F0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A16-3543-A636-85C99DE854F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A16-3543-A636-85C99DE854F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A16-3543-A636-85C99DE854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Sheet9!$A$265:$A$269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非必需消費</c:v>
                </c:pt>
                <c:pt idx="3">
                  <c:v>基本材料</c:v>
                </c:pt>
                <c:pt idx="4">
                  <c:v>工業</c:v>
                </c:pt>
              </c:strCache>
            </c:strRef>
          </c:cat>
          <c:val>
            <c:numRef>
              <c:f>Sheet9!$B$265:$B$269</c:f>
              <c:numCache>
                <c:formatCode>0.00%</c:formatCode>
                <c:ptCount val="5"/>
                <c:pt idx="0">
                  <c:v>0.26250000000000001</c:v>
                </c:pt>
                <c:pt idx="1">
                  <c:v>0.2051</c:v>
                </c:pt>
                <c:pt idx="2">
                  <c:v>0.1124</c:v>
                </c:pt>
                <c:pt idx="3">
                  <c:v>8.3900000000000002E-2</c:v>
                </c:pt>
                <c:pt idx="4">
                  <c:v>7.8799999999999995E-2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A16-3543-A636-85C99DE85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A1-3544-8684-532DB490AAAC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A1-3544-8684-532DB490AAAC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A1-3544-8684-532DB490AAAC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8A1-3544-8684-532DB490AAAC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8A1-3544-8684-532DB490AAA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8A1-3544-8684-532DB490AAA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8A1-3544-8684-532DB490AA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Sheet9!$A$271:$A$275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非必需消費</c:v>
                </c:pt>
                <c:pt idx="3">
                  <c:v>工業</c:v>
                </c:pt>
                <c:pt idx="4">
                  <c:v>通訊服務</c:v>
                </c:pt>
              </c:strCache>
            </c:strRef>
          </c:cat>
          <c:val>
            <c:numRef>
              <c:f>Sheet9!$B$271:$B$275</c:f>
              <c:numCache>
                <c:formatCode>0.00%</c:formatCode>
                <c:ptCount val="5"/>
                <c:pt idx="0">
                  <c:v>0.36409999999999998</c:v>
                </c:pt>
                <c:pt idx="1">
                  <c:v>0.1961</c:v>
                </c:pt>
                <c:pt idx="2">
                  <c:v>0.1132</c:v>
                </c:pt>
                <c:pt idx="3">
                  <c:v>8.14E-2</c:v>
                </c:pt>
                <c:pt idx="4">
                  <c:v>8.0100000000000005E-2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8A1-3544-8684-532DB490AA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57A-EB48-A76F-C5310C3AFB7D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57A-EB48-A76F-C5310C3AFB7D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57A-EB48-A76F-C5310C3AFB7D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57A-EB48-A76F-C5310C3AFB7D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57A-EB48-A76F-C5310C3AFB7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57A-EB48-A76F-C5310C3AFB7D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57A-EB48-A76F-C5310C3AFB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Sheet9!$A$277:$A$281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工業</c:v>
                </c:pt>
                <c:pt idx="3">
                  <c:v>基本材料</c:v>
                </c:pt>
                <c:pt idx="4">
                  <c:v>必需消費</c:v>
                </c:pt>
              </c:strCache>
            </c:strRef>
          </c:cat>
          <c:val>
            <c:numRef>
              <c:f>Sheet9!$B$277:$B$281</c:f>
              <c:numCache>
                <c:formatCode>0.00%</c:formatCode>
                <c:ptCount val="5"/>
                <c:pt idx="0">
                  <c:v>0.22389999999999999</c:v>
                </c:pt>
                <c:pt idx="1">
                  <c:v>0.21579999999999999</c:v>
                </c:pt>
                <c:pt idx="2">
                  <c:v>0.17230000000000001</c:v>
                </c:pt>
                <c:pt idx="3">
                  <c:v>0.1077</c:v>
                </c:pt>
                <c:pt idx="4">
                  <c:v>8.0399999999999999E-2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57A-EB48-A76F-C5310C3AFB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12-3342-B023-0E8A31C8C041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F12-3342-B023-0E8A31C8C0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Sheet9!$A$283:$A$284</c:f>
              <c:strCache>
                <c:ptCount val="2"/>
                <c:pt idx="0">
                  <c:v>能源</c:v>
                </c:pt>
                <c:pt idx="1">
                  <c:v>基本材料</c:v>
                </c:pt>
              </c:strCache>
            </c:strRef>
          </c:cat>
          <c:val>
            <c:numRef>
              <c:f>Sheet9!$B$283:$B$284</c:f>
              <c:numCache>
                <c:formatCode>0.00%</c:formatCode>
                <c:ptCount val="2"/>
                <c:pt idx="0">
                  <c:v>0.97919999999999996</c:v>
                </c:pt>
                <c:pt idx="1">
                  <c:v>2.98E-2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F12-3342-B023-0E8A31C8C0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91-B74A-A3FC-FFA1C7A7B841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191-B74A-A3FC-FFA1C7A7B841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191-B74A-A3FC-FFA1C7A7B841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191-B74A-A3FC-FFA1C7A7B841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191-B74A-A3FC-FFA1C7A7B84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191-B74A-A3FC-FFA1C7A7B84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191-B74A-A3FC-FFA1C7A7B8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Sheet9!$A$286:$A$290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非必需消費</c:v>
                </c:pt>
                <c:pt idx="3">
                  <c:v>醫療保健</c:v>
                </c:pt>
                <c:pt idx="4">
                  <c:v>通訊服務</c:v>
                </c:pt>
              </c:strCache>
            </c:strRef>
          </c:cat>
          <c:val>
            <c:numRef>
              <c:f>Sheet9!$B$286:$B$290</c:f>
              <c:numCache>
                <c:formatCode>0.00%</c:formatCode>
                <c:ptCount val="5"/>
                <c:pt idx="0">
                  <c:v>0.34589999999999999</c:v>
                </c:pt>
                <c:pt idx="1">
                  <c:v>0.12540000000000001</c:v>
                </c:pt>
                <c:pt idx="2">
                  <c:v>9.8500000000000004E-2</c:v>
                </c:pt>
                <c:pt idx="3">
                  <c:v>9.7600000000000006E-2</c:v>
                </c:pt>
                <c:pt idx="4">
                  <c:v>9.5500000000000002E-2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91-B74A-A3FC-FFA1C7A7B8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97-5E43-B934-2647E34A8770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97-5E43-B934-2647E34A8770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97-5E43-B934-2647E34A8770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97-5E43-B934-2647E34A8770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497-5E43-B934-2647E34A877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497-5E43-B934-2647E34A877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497-5E43-B934-2647E34A87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Sheet9!$A$292:$A$296</c:f>
              <c:strCache>
                <c:ptCount val="5"/>
                <c:pt idx="0">
                  <c:v>科技</c:v>
                </c:pt>
                <c:pt idx="1">
                  <c:v>工業</c:v>
                </c:pt>
                <c:pt idx="2">
                  <c:v>金融服務</c:v>
                </c:pt>
                <c:pt idx="3">
                  <c:v>醫療保健</c:v>
                </c:pt>
                <c:pt idx="4">
                  <c:v>通訊服務</c:v>
                </c:pt>
              </c:strCache>
            </c:strRef>
          </c:cat>
          <c:val>
            <c:numRef>
              <c:f>Sheet9!$B$292:$B$296</c:f>
              <c:numCache>
                <c:formatCode>0.00%</c:formatCode>
                <c:ptCount val="5"/>
                <c:pt idx="0">
                  <c:v>0.38919999999999999</c:v>
                </c:pt>
                <c:pt idx="1">
                  <c:v>0.1633</c:v>
                </c:pt>
                <c:pt idx="2">
                  <c:v>0.11260000000000001</c:v>
                </c:pt>
                <c:pt idx="3">
                  <c:v>8.5900000000000004E-2</c:v>
                </c:pt>
                <c:pt idx="4">
                  <c:v>6.9599999999999995E-2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497-5E43-B934-2647E34A8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708-7540-A63F-C1184E86D789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708-7540-A63F-C1184E86D789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708-7540-A63F-C1184E86D789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708-7540-A63F-C1184E86D789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708-7540-A63F-C1184E86D78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708-7540-A63F-C1184E86D78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708-7540-A63F-C1184E86D7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Sheet9!$A$300:$A$304</c:f>
              <c:strCache>
                <c:ptCount val="5"/>
                <c:pt idx="0">
                  <c:v>房地產</c:v>
                </c:pt>
                <c:pt idx="1">
                  <c:v>必需消費</c:v>
                </c:pt>
                <c:pt idx="2">
                  <c:v>公用事業</c:v>
                </c:pt>
                <c:pt idx="3">
                  <c:v>金融服務</c:v>
                </c:pt>
                <c:pt idx="4">
                  <c:v>能源</c:v>
                </c:pt>
              </c:strCache>
            </c:strRef>
          </c:cat>
          <c:val>
            <c:numRef>
              <c:f>Sheet9!$B$300:$B$304</c:f>
              <c:numCache>
                <c:formatCode>0.00%</c:formatCode>
                <c:ptCount val="5"/>
                <c:pt idx="0">
                  <c:v>0.2472</c:v>
                </c:pt>
                <c:pt idx="1">
                  <c:v>0.16789999999999999</c:v>
                </c:pt>
                <c:pt idx="2">
                  <c:v>0.11849999999999999</c:v>
                </c:pt>
                <c:pt idx="3">
                  <c:v>0.112</c:v>
                </c:pt>
                <c:pt idx="4">
                  <c:v>9.6799999999999997E-2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708-7540-A63F-C1184E86D7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C5-7143-986A-9ACC2D9ED97F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C5-7143-986A-9ACC2D9ED97F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C5-7143-986A-9ACC2D9ED97F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C5-7143-986A-9ACC2D9ED97F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C5-7143-986A-9ACC2D9ED97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EC5-7143-986A-9ACC2D9ED97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EC5-7143-986A-9ACC2D9ED9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Sheet9!$A$307:$A$311</c:f>
              <c:strCache>
                <c:ptCount val="5"/>
                <c:pt idx="0">
                  <c:v>科技</c:v>
                </c:pt>
                <c:pt idx="1">
                  <c:v>必需消費</c:v>
                </c:pt>
                <c:pt idx="2">
                  <c:v>醫療保健</c:v>
                </c:pt>
                <c:pt idx="3">
                  <c:v>工業</c:v>
                </c:pt>
                <c:pt idx="4">
                  <c:v>金融服務</c:v>
                </c:pt>
              </c:strCache>
            </c:strRef>
          </c:cat>
          <c:val>
            <c:numRef>
              <c:f>Sheet9!$B$307:$B$311</c:f>
              <c:numCache>
                <c:formatCode>0.00%</c:formatCode>
                <c:ptCount val="5"/>
                <c:pt idx="0">
                  <c:v>0.2742</c:v>
                </c:pt>
                <c:pt idx="1">
                  <c:v>0.18720000000000001</c:v>
                </c:pt>
                <c:pt idx="2">
                  <c:v>0.18110000000000001</c:v>
                </c:pt>
                <c:pt idx="3">
                  <c:v>0.1469</c:v>
                </c:pt>
                <c:pt idx="4">
                  <c:v>0.10059999999999999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C5-7143-986A-9ACC2D9ED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5F-C242-8F91-2BDB5DF29C44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5F-C242-8F91-2BDB5DF29C44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5F-C242-8F91-2BDB5DF29C44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C5F-C242-8F91-2BDB5DF29C44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C5F-C242-8F91-2BDB5DF29C4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C5F-C242-8F91-2BDB5DF29C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C5F-C242-8F91-2BDB5DF29C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Sheet9!$A$313:$A$317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醫療保健</c:v>
                </c:pt>
                <c:pt idx="3">
                  <c:v>必需消費</c:v>
                </c:pt>
                <c:pt idx="4">
                  <c:v>公用事業</c:v>
                </c:pt>
              </c:strCache>
            </c:strRef>
          </c:cat>
          <c:val>
            <c:numRef>
              <c:f>Sheet9!$B$313:$B$317</c:f>
              <c:numCache>
                <c:formatCode>0.00%</c:formatCode>
                <c:ptCount val="5"/>
                <c:pt idx="0">
                  <c:v>0.27910000000000001</c:v>
                </c:pt>
                <c:pt idx="1">
                  <c:v>0.13880000000000001</c:v>
                </c:pt>
                <c:pt idx="2">
                  <c:v>0.13389999999999999</c:v>
                </c:pt>
                <c:pt idx="3">
                  <c:v>9.9299999999999999E-2</c:v>
                </c:pt>
                <c:pt idx="4">
                  <c:v>7.7200000000000005E-2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F-C242-8F91-2BDB5DF29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49F-FD40-AB03-72764ACD03C1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49F-FD40-AB03-72764ACD03C1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49F-FD40-AB03-72764ACD03C1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9F-FD40-AB03-72764ACD03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Sheet9!$A$319:$A$321</c:f>
              <c:strCache>
                <c:ptCount val="3"/>
                <c:pt idx="0">
                  <c:v>科技</c:v>
                </c:pt>
                <c:pt idx="1">
                  <c:v>工業</c:v>
                </c:pt>
                <c:pt idx="2">
                  <c:v>通訊服務</c:v>
                </c:pt>
              </c:strCache>
            </c:strRef>
          </c:cat>
          <c:val>
            <c:numRef>
              <c:f>Sheet9!$B$319:$B$321</c:f>
              <c:numCache>
                <c:formatCode>0.00%</c:formatCode>
                <c:ptCount val="3"/>
                <c:pt idx="0">
                  <c:v>0.94</c:v>
                </c:pt>
                <c:pt idx="1">
                  <c:v>3.85E-2</c:v>
                </c:pt>
                <c:pt idx="2">
                  <c:v>2.1499999999999998E-2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49F-FD40-AB03-72764ACD0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5C-B446-A0CA-06CAFCCBF05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Sheet9!$P$7</c:f>
              <c:strCache>
                <c:ptCount val="1"/>
                <c:pt idx="0">
                  <c:v>能源</c:v>
                </c:pt>
              </c:strCache>
            </c:strRef>
          </c:cat>
          <c:val>
            <c:numRef>
              <c:f>Sheet9!$Q$7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5C-B446-A0CA-06CAFCCBF0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B94-E248-A463-BFDCB89D7338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B94-E248-A463-BFDCB89D7338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B94-E248-A463-BFDCB89D733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B94-E248-A463-BFDCB89D733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B94-E248-A463-BFDCB89D73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Sheet9!$A$323:$A$325</c:f>
              <c:strCache>
                <c:ptCount val="3"/>
                <c:pt idx="0">
                  <c:v>公用事業</c:v>
                </c:pt>
                <c:pt idx="1">
                  <c:v>醫療保健</c:v>
                </c:pt>
                <c:pt idx="2">
                  <c:v>科技</c:v>
                </c:pt>
              </c:strCache>
            </c:strRef>
          </c:cat>
          <c:val>
            <c:numRef>
              <c:f>Sheet9!$B$323:$B$325</c:f>
              <c:numCache>
                <c:formatCode>0.00%</c:formatCode>
                <c:ptCount val="3"/>
                <c:pt idx="0" formatCode="0%">
                  <c:v>0.8377</c:v>
                </c:pt>
                <c:pt idx="1">
                  <c:v>0.1016</c:v>
                </c:pt>
                <c:pt idx="2">
                  <c:v>6.0699999999999997E-2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B94-E248-A463-BFDCB89D7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000-6E40-ACDE-C36FEA241A32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000-6E40-ACDE-C36FEA241A32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000-6E40-ACDE-C36FEA241A32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000-6E40-ACDE-C36FEA241A32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000-6E40-ACDE-C36FEA241A32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000-6E40-ACDE-C36FEA241A32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000-6E40-ACDE-C36FEA241A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Sheet9!$A$327:$A$331</c:f>
              <c:strCache>
                <c:ptCount val="5"/>
                <c:pt idx="0">
                  <c:v>科技</c:v>
                </c:pt>
                <c:pt idx="1">
                  <c:v>醫療保健</c:v>
                </c:pt>
                <c:pt idx="2">
                  <c:v>非必需消費</c:v>
                </c:pt>
                <c:pt idx="3">
                  <c:v>工業</c:v>
                </c:pt>
                <c:pt idx="4">
                  <c:v>通訊服務</c:v>
                </c:pt>
              </c:strCache>
            </c:strRef>
          </c:cat>
          <c:val>
            <c:numRef>
              <c:f>Sheet9!$B$327:$B$331</c:f>
              <c:numCache>
                <c:formatCode>0.00%</c:formatCode>
                <c:ptCount val="5"/>
                <c:pt idx="0">
                  <c:v>0.54859999999999998</c:v>
                </c:pt>
                <c:pt idx="1">
                  <c:v>0.1308</c:v>
                </c:pt>
                <c:pt idx="2">
                  <c:v>8.0199999999999994E-2</c:v>
                </c:pt>
                <c:pt idx="3">
                  <c:v>6.8400000000000002E-2</c:v>
                </c:pt>
                <c:pt idx="4">
                  <c:v>5.45E-2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00-6E40-ACDE-C36FEA241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68-AB4E-8950-79E386DA35E5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68-AB4E-8950-79E386DA35E5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68-AB4E-8950-79E386DA35E5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268-AB4E-8950-79E386DA35E5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268-AB4E-8950-79E386DA35E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268-AB4E-8950-79E386DA35E5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268-AB4E-8950-79E386DA35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Sheet9!$A$334:$A$338</c:f>
              <c:strCache>
                <c:ptCount val="5"/>
                <c:pt idx="0">
                  <c:v>科技</c:v>
                </c:pt>
                <c:pt idx="1">
                  <c:v>通訊服務</c:v>
                </c:pt>
                <c:pt idx="2">
                  <c:v>非必需消費</c:v>
                </c:pt>
                <c:pt idx="3">
                  <c:v>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Sheet9!$B$334:$B$338</c:f>
              <c:numCache>
                <c:formatCode>0.00%</c:formatCode>
                <c:ptCount val="5"/>
                <c:pt idx="0">
                  <c:v>0.50539999999999996</c:v>
                </c:pt>
                <c:pt idx="1">
                  <c:v>0.16059999999999999</c:v>
                </c:pt>
                <c:pt idx="2">
                  <c:v>0.12620000000000001</c:v>
                </c:pt>
                <c:pt idx="3">
                  <c:v>8.5800000000000001E-2</c:v>
                </c:pt>
                <c:pt idx="4">
                  <c:v>5.11E-2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268-AB4E-8950-79E386DA35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962123"/>
            </a:solidFill>
          </c:spPr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0C5-9841-B26D-F57058BAE30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Sheet9!$A$343</c:f>
              <c:strCache>
                <c:ptCount val="1"/>
                <c:pt idx="0">
                  <c:v>工業</c:v>
                </c:pt>
              </c:strCache>
            </c:strRef>
          </c:cat>
          <c:val>
            <c:numRef>
              <c:f>Sheet9!$B$343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C5-9841-B26D-F57058BAE3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49309-7AB3-4FA2-BDCA-DC522A50603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92AB6-3A85-44D1-988D-CED0E57535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789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85A2A-224C-4552-A43C-6963C414077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17888" y="841375"/>
            <a:ext cx="303053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A7907-3E45-4770-9493-15816AF92B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027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07"/>
            <a:ext cx="9144000" cy="686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9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6060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07"/>
            <a:ext cx="9144000" cy="6860607"/>
          </a:xfrm>
          <a:prstGeom prst="rect">
            <a:avLst/>
          </a:prstGeom>
        </p:spPr>
      </p:pic>
      <p:sp>
        <p:nvSpPr>
          <p:cNvPr id="5" name="文字方塊 4">
            <a:hlinkClick r:id="" action="ppaction://noaction"/>
          </p:cNvPr>
          <p:cNvSpPr txBox="1"/>
          <p:nvPr userDrawn="1"/>
        </p:nvSpPr>
        <p:spPr>
          <a:xfrm>
            <a:off x="3512410" y="6676789"/>
            <a:ext cx="6057902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本資料</a:t>
            </a:r>
            <a:r>
              <a:rPr lang="zh-TW" altLang="en-US" sz="900" b="1" spc="-20" baseline="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不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為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買賣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任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何證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券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或投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資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工具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之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請求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或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邀約。</a:t>
            </a:r>
            <a:r>
              <a:rPr lang="zh-TW" altLang="en-US" sz="900" b="1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內部教育訓練使用，嚴禁轉載或提供予客戶作為銷售資料。 </a:t>
            </a: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350891"/>
            <a:ext cx="1314633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8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07"/>
            <a:ext cx="9144000" cy="686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8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2103380" y="133518"/>
            <a:ext cx="3132986" cy="63479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微軟正黑體"/>
                <a:ea typeface="微軟正黑體"/>
                <a:cs typeface="微軟正黑體"/>
              </a:defRPr>
            </a:lvl1pPr>
          </a:lstStyle>
          <a:p>
            <a:r>
              <a:rPr kumimoji="1" lang="zh-TW" altLang="en-US" dirty="0"/>
              <a:t>加入標題位置示意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3510" y="1174306"/>
            <a:ext cx="8055774" cy="5127699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  <a:lvl2pPr>
              <a:defRPr>
                <a:latin typeface="微軟正黑體"/>
                <a:ea typeface="微軟正黑體"/>
                <a:cs typeface="微軟正黑體"/>
              </a:defRPr>
            </a:lvl2pPr>
            <a:lvl3pPr>
              <a:defRPr>
                <a:latin typeface="微軟正黑體"/>
                <a:ea typeface="微軟正黑體"/>
                <a:cs typeface="微軟正黑體"/>
              </a:defRPr>
            </a:lvl3pPr>
            <a:lvl4pPr>
              <a:defRPr>
                <a:latin typeface="微軟正黑體"/>
                <a:ea typeface="微軟正黑體"/>
                <a:cs typeface="微軟正黑體"/>
              </a:defRPr>
            </a:lvl4pPr>
            <a:lvl5pPr>
              <a:defRPr>
                <a:latin typeface="微軟正黑體"/>
                <a:ea typeface="微軟正黑體"/>
                <a:cs typeface="微軟正黑體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</p:txBody>
      </p:sp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42" y="261382"/>
            <a:ext cx="1638000" cy="21910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" y="0"/>
            <a:ext cx="9139391" cy="6858000"/>
          </a:xfrm>
          <a:prstGeom prst="rect">
            <a:avLst/>
          </a:prstGeom>
        </p:spPr>
      </p:pic>
      <p:sp>
        <p:nvSpPr>
          <p:cNvPr id="7" name="文字方塊 6">
            <a:hlinkClick r:id="" action="ppaction://noaction"/>
          </p:cNvPr>
          <p:cNvSpPr txBox="1"/>
          <p:nvPr userDrawn="1"/>
        </p:nvSpPr>
        <p:spPr>
          <a:xfrm>
            <a:off x="3512410" y="6676789"/>
            <a:ext cx="6057902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本資料</a:t>
            </a:r>
            <a:r>
              <a:rPr lang="zh-TW" altLang="en-US" sz="900" b="1" spc="-20" baseline="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不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為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買賣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任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何證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券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或投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資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工具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之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請求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或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邀約。</a:t>
            </a:r>
            <a:r>
              <a:rPr lang="zh-TW" altLang="en-US" sz="900" b="1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內部教育訓練使用，嚴禁轉載或提供予客戶作為銷售資料。 </a:t>
            </a:r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350891"/>
            <a:ext cx="1314633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6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4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9" r:id="rId3"/>
    <p:sldLayoutId id="2147483795" r:id="rId4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finance.yahoo.com/quote/VXUS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finance.yahoo.com/quote/VGIT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finance.yahoo.com/quote/IEFA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finance.yahoo.com/quote/AVD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finance.yahoo.com/quote/FEZ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finance.yahoo.com/quote/GDX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finance.yahoo.com/quote/BWX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finance.yahoo.com/quote/VCLT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finance.yahoo.com/quote/IJR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finance.yahoo.com/quote/IYW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finance.yahoo.com/quote/IWR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finance.yahoo.com/quote/IWF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finance.yahoo.com/quote/IWD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hyperlink" Target="https://finance.yahoo.com/quote/XME/" TargetMode="Externa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finance.yahoo.com/quote/GDX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finance.yahoo.com/quote/GDX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finance.yahoo.com/quote/ASHR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finance.yahoo.com/quote/XOP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finance.yahoo.com/quote/BNDX/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finance.yahoo.com/quote/EMB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finance.yahoo.com/quote/HYG/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finance.yahoo.com/quote/ESGU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finance.yahoo.com/quote/MTUM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finance.yahoo.com/quote/SPYD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finance.yahoo.com/quote/MOAT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finance.yahoo.com/quote/USM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finance.yahoo.com/quote/CIBR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finance.yahoo.com/quote/SHV/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finance.yahoo.com/quote/XLE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finance.yahoo.com/quote/PFF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finance.yahoo.com/quote/VGSH/" TargetMode="Externa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finance.yahoo.com/quote/SPUS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finance.yahoo.com/quote/QQQM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finance.yahoo.com/quote/ITA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1777-5579-2A76-5124-FD581AFC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B416C8C3-01CA-D8FA-79EC-E2D458C93C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先鋒全部國際股票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(VXUS.US)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1C611BC4-6AC6-BDEE-8C61-743A1CF78D0C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67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TSMC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3.49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全球晶圓代工龍頭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Samsung Electronics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1.36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記憶體與消費電子龍頭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ASML Holdings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1.28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半導體微影設備龍頭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Tencent Holdings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0.97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中國社群娛樂與遊戲龍頭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SK Hynix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0.76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記憶體半導體大廠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AEB42B3A-2577-5781-014A-38D6F664E451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7E49F3F-8159-E05F-46D0-68C9055AF836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https://finance.yahoo.com/quote/VXUS/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1F84596-5A09-3F80-88E3-3426501E5DDA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2011/01/26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FTSE Global All Cap ex US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投資標的是美國以外的全球股票，涵蓋已開發與新興市場大型、中型及小型企業，費用率為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特色是可用低成本方式分散布局非美股市，涵蓋歐洲、亞太與新興市場，適合作為全球股票配置中的國際核心部位；但仍受匯率、海外景氣、地緣政治及各國利率政策影響。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D2A02CA-6D13-5112-C749-1CAC85646E82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B8BB2-D486-4CCB-A130-33114502B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9078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5CB500B-7B78-C492-A56E-811B0FBA913D}"/>
              </a:ext>
            </a:extLst>
          </p:cNvPr>
          <p:cNvGraphicFramePr>
            <a:graphicFrameLocks/>
          </p:cNvGraphicFramePr>
          <p:nvPr/>
        </p:nvGraphicFramePr>
        <p:xfrm>
          <a:off x="4607155" y="1216565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52017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BBA8-BA9B-66F0-4B32-E2E0B90BA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7B48F742-72FD-FEFD-3C59-EF69AAE0203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領航中期政府債券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(VGIT.US)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07703FD-4BFE-2C3D-DDC9-CF7A46BE95B2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https://finance.yahoo.com/quote/VGIT/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0E75B4A-2A42-DD2E-4405-8106CB22855C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2009/11/19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Bloomberg U.S. Treasury 3–10 Year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至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年期美國公債，不包含抗通膨債券，費用率維持低成本特色。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特色是提供中天期美國政府債曝險，信用風險相對低，利率敏感度介於短債與長債之間；適合作為防禦型配置與降息循環受惠標的，但若殖利率上升，債券價格仍可能承壓。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7E0A19-AAB0-6B3C-D286-237E0DA7B2CF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F308F3-646A-8409-B751-3AAA80EB3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9078"/>
            <a:ext cx="3960000" cy="2232000"/>
          </a:xfrm>
          <a:prstGeom prst="rect">
            <a:avLst/>
          </a:prstGeom>
        </p:spPr>
      </p:pic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6BA389E0-91B4-8945-3499-A83159470883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+ 0.12%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+ 3.43%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+ 3.09%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4" name="矩形 18">
            <a:extLst>
              <a:ext uri="{FF2B5EF4-FFF2-40B4-BE49-F238E27FC236}">
                <a16:creationId xmlns:a16="http://schemas.microsoft.com/office/drawing/2014/main" id="{84D31A80-68E0-99B7-2D38-E4FF704F21E1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A9B364-1FA8-5559-562A-F0A5BC453682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平均信評AAA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1BD371-CB4B-D6B3-9170-E081A68D2189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5.6年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4A2B56-F106-A2AF-6504-D277D516E488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4.91年</a:t>
            </a:r>
          </a:p>
        </p:txBody>
      </p:sp>
    </p:spTree>
    <p:extLst>
      <p:ext uri="{BB962C8B-B14F-4D97-AF65-F5344CB8AC3E}">
        <p14:creationId xmlns:p14="http://schemas.microsoft.com/office/powerpoint/2010/main" val="10316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BFF35-5FCA-87F0-EC59-3AA9DA0DA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90952C5-D860-A765-7A38-495D0E2E02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25390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 err="1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Avantis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美國小型價值股主動型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(AVUV.US)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9974CCC9-FFA4-C92F-0DF8-04828D40A156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67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SM Energy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1.10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美國頁岩油氣探勘生產商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Five Below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0.97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美國折扣零售連鎖商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Viasat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0.91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衛星通訊服務供應商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Matson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0.90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太平洋航運與物流公司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California Resources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0.85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加州油氣探勘生產商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BB4AF2E-E777-56EA-BAAD-DE56856D222F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556A6E4-06D4-98C7-E980-9770018C2E7E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https://finance.yahoo.com/quote/AVUV/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60EAA50-6E55-631D-7BE3-82BB4F0F6BDD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2019/09/24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，為</a:t>
            </a:r>
            <a:r>
              <a:rPr lang="en-GB" altLang="zh-TW" sz="1400" dirty="0" err="1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Avantis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旗下主動型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投資標的是美國小型價值股，策略上偏好低估值且獲利能力較佳的小型公司，費用率為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0.25%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特色是結合小型股與價值因子，較有機會受惠於景氣復甦、利率下行與中小型企業獲利改善；但波動通常高於大型股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且在成長股或大型科技股強勢時可能相對落後。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DAB2CAD-C8BA-DFDE-15F9-2333814A37EF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01F85D-1DB3-CB29-308B-8D50CB08B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9078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591E249-6B1E-2062-2F21-D590C5C2B6B4}"/>
              </a:ext>
            </a:extLst>
          </p:cNvPr>
          <p:cNvGraphicFramePr>
            <a:graphicFrameLocks/>
          </p:cNvGraphicFramePr>
          <p:nvPr/>
        </p:nvGraphicFramePr>
        <p:xfrm>
          <a:off x="4572000" y="1237266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51888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26CBD-780B-6173-09AD-4262A172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85F412B0-D47B-F2BE-6C16-811EC220517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56212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 err="1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Avantis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國際小型價值股主動型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(AVDV.US)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A97727E0-C22C-F764-5C6D-FF8AB0B46FBB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Mitsui Kinzoku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1.15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日本金屬材料與電子零組件商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OceanaGold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0.79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黃金與銅礦開採公司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Whitehaven Coal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0.79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澳洲大型煤礦生產商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AT&amp;S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0.75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高階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IC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載板供應商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Perseus Mining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0.68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西非黃金礦業公司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BB0D3455-F334-6B40-2B2C-103503F3105D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F8DD03D-DCE7-9AF3-1A3E-52DB1E99559B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https://finance.yahoo.com/quote/AVDV/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B3DD089-D7AD-0C89-5787-2D22D26828ED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2019/09/24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，為</a:t>
            </a:r>
            <a:r>
              <a:rPr lang="en-GB" altLang="zh-TW" sz="1400" dirty="0" err="1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Avantis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旗下主動型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投資標的是美國以外已開發市場的小型價值股，聚焦低估值及獲利能力較佳的國際小型企業，費用率為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0.36%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特色是可補足美股與大型股以外的國際小型價值曝險，分散單一市場與風格集中風險；但投資組合受外匯、海外景氣、流動性與小型股波動影響較大。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F2E758B-07D4-458E-8FE4-19E7D5D02C61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A2DE3-4666-B718-DE34-513213031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9078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C099892-28EB-679B-21F9-705A933C714E}"/>
              </a:ext>
            </a:extLst>
          </p:cNvPr>
          <p:cNvGraphicFramePr>
            <a:graphicFrameLocks/>
          </p:cNvGraphicFramePr>
          <p:nvPr/>
        </p:nvGraphicFramePr>
        <p:xfrm>
          <a:off x="4572000" y="1235415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8699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52D35-2261-A260-B9C2-EB23C171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2A02BAC6-6EE9-A9FB-B943-04C355C9936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歐洲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STOXX 50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指數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(FEZ.US)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16F1E31E-9821-1C1F-A7BF-E74EBAC9F7C9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26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ASML Holding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9.76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半導體微影設備龍頭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TotalEnergies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4.44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全球綜合能源集團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Siemens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3.88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工業自動化與電氣設備龍頭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SAP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3.76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企業管理軟體龍頭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Banco </a:t>
                      </a:r>
                      <a:r>
                        <a:rPr lang="en-GB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Santader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3.49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歐洲大型綜合銀行集團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118F476-5190-6308-2350-B19870D8CB6E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48D40C2-ABA2-72E2-B6D7-6331D240C2EB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https://finance.yahoo.com/quote/FEZ/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38A6C16-0A28-FB75-9EC1-0DCD1771C7D8}"/>
              </a:ext>
            </a:extLst>
          </p:cNvPr>
          <p:cNvSpPr txBox="1"/>
          <p:nvPr/>
        </p:nvSpPr>
        <p:spPr>
          <a:xfrm>
            <a:off x="537220" y="1062248"/>
            <a:ext cx="3960001" cy="266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2002/10/15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EURO STOXX 50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投資標的是歐元區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家大型藍籌企業，涵蓋金融、工業、消費、醫療保健及科技等產業。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特色是可一次布局歐元區大型龍頭企業，適合作為歐洲核心股票配置工具；相較美股科技權重較低，風格較偏價值與股利，但仍需留意歐元匯率、歐洲景氣、能源價格及歐洲央行政策。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CB13556-3331-4EF1-A4DC-128191415FB1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0ECC5-94E6-73F1-6AE5-E6480630A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9078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79F6370-E0FD-97D9-6B02-D42888380040}"/>
              </a:ext>
            </a:extLst>
          </p:cNvPr>
          <p:cNvGraphicFramePr>
            <a:graphicFrameLocks/>
          </p:cNvGraphicFramePr>
          <p:nvPr/>
        </p:nvGraphicFramePr>
        <p:xfrm>
          <a:off x="4572000" y="1234931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0882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1082F-E039-5D76-6250-CD776810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43210843-9CC7-3CF6-D618-DF6FB9ADDD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VanEck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黃金礦業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(GDX.US)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7884A959-B8A3-6562-C606-B39F0FAB631E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Agnico Eagle Mines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12.16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加拿大大型黃金礦業公司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Newmont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10.93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全球最大黃金礦業公司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Barrick Mining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7.66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全球大型黃金與銅礦商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Franco-Nevada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5.20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貴金屬權利金與串流公司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AngloGold Ashanti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5.04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全球大型黃金礦業公司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D0B50F32-3A7D-0921-FC09-39DE0BF4C660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A85C57D-A6DC-A9F7-0623-E7BCBA40C19D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https://finance.yahoo.com/quote/GDX/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D557736-36E6-56F2-391B-21C60C6E0DF0}"/>
              </a:ext>
            </a:extLst>
          </p:cNvPr>
          <p:cNvSpPr txBox="1"/>
          <p:nvPr/>
        </p:nvSpPr>
        <p:spPr>
          <a:xfrm>
            <a:off x="537220" y="1062248"/>
            <a:ext cx="3960001" cy="266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NYSE Arca Gold Miners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投資標的是全球大型黃金礦業公司，涵蓋黃金開採、生產與相關礦業企業，費用率約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0.51%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特色是可參與黃金價格上漲與礦業公司獲利槓桿，通常在通膨、美元走弱或避險需求升溫時較受關注；但金礦股波動通常高於實體黃金，並受營運成本、礦產開採風險及金價變化影響。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5C2DD06-39B2-C9EA-F3A8-CE58E000B7FA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6C48DF-4520-8CA7-6030-97511C16C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9078"/>
            <a:ext cx="3960000" cy="2232000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DA1BC93-2CE5-91F3-34D8-A01F2988AEB0}"/>
              </a:ext>
            </a:extLst>
          </p:cNvPr>
          <p:cNvGraphicFramePr>
            <a:graphicFrameLocks/>
          </p:cNvGraphicFramePr>
          <p:nvPr/>
        </p:nvGraphicFramePr>
        <p:xfrm>
          <a:off x="4536847" y="1234261"/>
          <a:ext cx="4111139" cy="2744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9228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A1EF-705D-98F5-0C56-D2EE5CCC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706C7458-9575-C056-7F06-9CCADC4849F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65864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彭博國際公債指數股票型基金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(BWX.US)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7D1774A-647B-2585-3B9E-45BF29313E75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https://finance.yahoo.com/quote/BWX/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49F7214-6607-62CF-16EC-A8E60E950AEC}"/>
              </a:ext>
            </a:extLst>
          </p:cNvPr>
          <p:cNvSpPr txBox="1"/>
          <p:nvPr/>
        </p:nvSpPr>
        <p:spPr>
          <a:xfrm>
            <a:off x="537220" y="1062248"/>
            <a:ext cx="3960001" cy="266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2007/10/02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Bloomberg Global Treasury ex-US Capped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投資標的是美國以外投資等級國家的當地貨幣主權公債。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特色是提供非美國政府債券曝險，可分散美元與美債集中風險，適合作為全球債券配置工具；但報酬受外匯波動影響較大，也會受到各國利率政策、主權信用與全球債市資金流向影響。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057CE9D-7539-6668-47B3-758CF6CA59E9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CC05DE-3A2A-9A6C-28B4-C09E34CB2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9078"/>
            <a:ext cx="3960000" cy="2232000"/>
          </a:xfrm>
          <a:prstGeom prst="rect">
            <a:avLst/>
          </a:prstGeom>
        </p:spPr>
      </p:pic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8B32ECEA-D52D-3E84-9FB0-D313B82B829E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- 1.23%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- 2.04%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+ 0.66%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4" name="矩形 18">
            <a:extLst>
              <a:ext uri="{FF2B5EF4-FFF2-40B4-BE49-F238E27FC236}">
                <a16:creationId xmlns:a16="http://schemas.microsoft.com/office/drawing/2014/main" id="{184122CD-026B-BFDA-932C-F9F32CE7E023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B36753-61F8-4147-BE7A-1D203576E273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7845BE-71A4-C7E3-D1FA-FA72C4EBD39D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9.37年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4DD25F-F8BE-0D58-4AD6-D8D134D5E2D7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7.64年</a:t>
            </a:r>
          </a:p>
        </p:txBody>
      </p:sp>
    </p:spTree>
    <p:extLst>
      <p:ext uri="{BB962C8B-B14F-4D97-AF65-F5344CB8AC3E}">
        <p14:creationId xmlns:p14="http://schemas.microsoft.com/office/powerpoint/2010/main" val="403814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8942-D228-4961-09AE-043D226DE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B831C22-3578-C762-9548-E457AEC3226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65864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領航長期公司債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(VCLT.US)</a:t>
            </a:r>
            <a:endParaRPr lang="zh-TW" altLang="en-US" sz="3000" b="1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E1BED52-C220-A21B-C2D2-F892084F086C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https://finance.yahoo.com/quote/VCLT/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E1DC89-DDD2-AA7B-069B-0F109B111704}"/>
              </a:ext>
            </a:extLst>
          </p:cNvPr>
          <p:cNvSpPr txBox="1"/>
          <p:nvPr/>
        </p:nvSpPr>
        <p:spPr>
          <a:xfrm>
            <a:off x="537220" y="1062248"/>
            <a:ext cx="3960001" cy="266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2009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Bloomberg U.S. 10+ Year Corporate Bond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投資標的是美元計價、投資等級、固定利率且到期日超過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年的公司債，涵蓋美國及非美國企業發行人。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特色是提供長天期投資等級公司債曝險，收益率通常高於同天期美國公債，適合偏好固定收益與信用債配置的投資人；但存續期間較長，對利率變化與信用利差擴大較敏感。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37D1C6C-9B6B-7CF3-3B2A-745D060723F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DD10CD02-40A6-F38B-5439-4FCC38D687D1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+ 0.00%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+ 6.70%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+ 3.89%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4" name="矩形 18">
            <a:extLst>
              <a:ext uri="{FF2B5EF4-FFF2-40B4-BE49-F238E27FC236}">
                <a16:creationId xmlns:a16="http://schemas.microsoft.com/office/drawing/2014/main" id="{5F893BED-11AA-E009-8164-809C4B21C4C9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F591B5-7D71-987E-306B-7E201F37A021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0CC763-CC3E-5B34-D0C8-9A66690E4A66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22.20年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49C93A-7138-8549-7476-3C0E91FF8325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12.10年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8436EE-FEF7-198E-7345-9BC01A0FA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6" y="4172208"/>
            <a:ext cx="3960001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1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6470-3006-085F-E4C5-DCB3BDD5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1E656973-8507-78B8-A025-758044E36B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安碩核心標普小型股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(IJR.US)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50260A7E-0324-24EC-8EF8-881FB35405F8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XTSLA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1.38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特斯拉相關衍生性曝險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Eastman Chemical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0.57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特種化學材料公司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Element Solutions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0.51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電子化學與表面處理材料商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Primoris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Services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0.50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基礎建設與工程服務商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Viavi Solutions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0.50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通訊測試與光學技術供應商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529FA371-389E-470B-8BA1-27C61014C7B5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C597AC7-44C7-6B0B-405D-26AB33701D0B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https://finance.yahoo.com/quote/IJR/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57979C5-3044-64AF-7698-856AFC5ACD31}"/>
              </a:ext>
            </a:extLst>
          </p:cNvPr>
          <p:cNvSpPr txBox="1"/>
          <p:nvPr/>
        </p:nvSpPr>
        <p:spPr>
          <a:xfrm>
            <a:off x="537220" y="1062248"/>
            <a:ext cx="3960001" cy="2739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SmallCap 600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投資標的是美國小型股，成分股涵蓋工業、金融、消費、科技及醫療保健等產業。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特色是以低成本方式分散布局美國小型企業，較有機會受惠於景氣復甦、降息循環與美國內需成長；但小型股波動通常高於大型股，且對融資環境與景氣循環較敏感。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B294EA3-E0F9-E336-1508-243ABBF6AFDF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A1729-12B3-01F1-3B09-BCBA60EE0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7390"/>
            <a:ext cx="3960000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4E85F2F-1061-DEA0-6F18-D0809C88411C}"/>
              </a:ext>
            </a:extLst>
          </p:cNvPr>
          <p:cNvGraphicFramePr>
            <a:graphicFrameLocks/>
          </p:cNvGraphicFramePr>
          <p:nvPr/>
        </p:nvGraphicFramePr>
        <p:xfrm>
          <a:off x="4536846" y="1219939"/>
          <a:ext cx="41111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4915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A58AC-0B66-158F-E805-468E37007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60963F1B-D860-DFE1-72A2-6AF28A958F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安碩美國科技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(IYW.US)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60B5503D-4AB8-C720-7A12-2F9C6A014F18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17.05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15.32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7.04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搜尋引擎與雲端平台龍頭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5.72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搜尋引擎與雲端平台龍頭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4.35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雲端與企業軟體龍頭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CD0589B-7219-2E60-E322-913531516CFF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AFB9270-C53D-98A9-0BB9-B5E74F5BE5FB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https://finance.yahoo.com/quote/IYW/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5AD33D4-80CD-D558-3F34-9410CABD9AEF}"/>
              </a:ext>
            </a:extLst>
          </p:cNvPr>
          <p:cNvSpPr txBox="1"/>
          <p:nvPr/>
        </p:nvSpPr>
        <p:spPr>
          <a:xfrm>
            <a:off x="537220" y="1062248"/>
            <a:ext cx="3960001" cy="241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年，主要追蹤美國科技類股指數，投資標的是美國電子、電腦軟體、硬體及資訊科技相關企業，涵蓋大型科技與半導體龍頭。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特色是集中布局美國科技產業，受惠於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雲端運算、半導體、企業軟體與數位化轉型趨勢；但持股集中度與估值敏感度較高，若科技股修正或利率上行，淨值波動可能較大。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E2B1B2F-6C1F-E6E0-85AD-74E2EC56AE39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012FB-7F3B-77CB-3044-67ABA1C5A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63611"/>
            <a:ext cx="3981477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628506B-0282-B4BA-2964-BF63438FA068}"/>
              </a:ext>
            </a:extLst>
          </p:cNvPr>
          <p:cNvGraphicFramePr>
            <a:graphicFrameLocks/>
          </p:cNvGraphicFramePr>
          <p:nvPr/>
        </p:nvGraphicFramePr>
        <p:xfrm>
          <a:off x="4536846" y="1214816"/>
          <a:ext cx="4111139" cy="2776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19772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0724-CD76-F64F-2C49-20830096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628B68AF-3921-CAFA-EF45-EF14F30A298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羅素中型股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(IWR.US)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914BA72D-2229-8B76-F023-F73FAF79CA7F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Corning Incorporated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0.84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特種玻璃與光纖材料龍頭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Vertic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Holdings Co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0.76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資料中心電力與散熱設備商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Howmet Aerospace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0.73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航太精密零組件供應商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Western Digital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0.73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儲存硬碟與快閃記憶體大廠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Sandisk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0.72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快閃記憶體與儲存產品供應商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AD80B28-66D3-A162-AC39-411F4B542FAD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64E7F03-E1A6-E60B-D32D-E27CE9D73C82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https://finance.yahoo.com/quote/IWR/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7301D56-886D-054C-E0FA-166416B35DC4}"/>
              </a:ext>
            </a:extLst>
          </p:cNvPr>
          <p:cNvSpPr txBox="1"/>
          <p:nvPr/>
        </p:nvSpPr>
        <p:spPr>
          <a:xfrm>
            <a:off x="537220" y="1062248"/>
            <a:ext cx="3960001" cy="2175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Russell Midcap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投資標的是美國中型股，涵蓋具成長潛力但規模已較成熟的企業。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特色是可布局美國中型企業，兼具大型股穩定性與小型股成長彈性，適合作為補足大型股核心配置的工具；但仍會受到景氣循環、資金成本與企業獲利變化影響。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6C53719-D1C9-B2EB-C53A-757F759D605A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B68ED-6B4C-895C-7DE0-C2832BB68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57133"/>
            <a:ext cx="3960000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C8C50A2-DE90-5B88-3DA0-4BF6FEE892B8}"/>
              </a:ext>
            </a:extLst>
          </p:cNvPr>
          <p:cNvGraphicFramePr>
            <a:graphicFrameLocks/>
          </p:cNvGraphicFramePr>
          <p:nvPr/>
        </p:nvGraphicFramePr>
        <p:xfrm>
          <a:off x="4572000" y="1235415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76615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19848-45C6-42BC-02D7-118FB67F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52FA1C4F-C797-AAA4-25FF-F1310302BED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羅素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成長股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(IWF.US)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991A1764-4231-D8F6-30B1-029718B42EC1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12.92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11.64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8.82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雲端與企業軟體龍頭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4.79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半導體與基礎設施軟體龍頭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3B13DC1-A37B-C630-C997-07B9BD9A7305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FFC43A3-ED57-5AC1-C100-3B0B7F704780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https://finance.yahoo.com/quote/IWF/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0092413-01E4-78E5-DE09-68FD8AA024B9}"/>
              </a:ext>
            </a:extLst>
          </p:cNvPr>
          <p:cNvSpPr txBox="1"/>
          <p:nvPr/>
        </p:nvSpPr>
        <p:spPr>
          <a:xfrm>
            <a:off x="537220" y="1062248"/>
            <a:ext cx="3960001" cy="241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Russell 1000 Growth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投資標的是具成長特性的美國大型與中型股票，通常涵蓋科技、通訊服務及非必需消費等產業。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特色是可集中布局美國大型成長股，受惠於企業獲利高速成長、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雲端、數位平台與創新科技趨勢；但對估值、利率與市場風險偏好較敏感，成長股修正時波動可能較大。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A3B8273-B87C-3BC9-0CF7-D10D8C8270D2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B6E21-60BE-FDFD-836A-873C5568E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63611"/>
            <a:ext cx="3981477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064570F-0214-D726-40B7-F026AF9D4DA3}"/>
              </a:ext>
            </a:extLst>
          </p:cNvPr>
          <p:cNvGraphicFramePr>
            <a:graphicFrameLocks/>
          </p:cNvGraphicFramePr>
          <p:nvPr/>
        </p:nvGraphicFramePr>
        <p:xfrm>
          <a:off x="4572000" y="1216565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8140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2017-1633-7CC5-B4DA-6155FF59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19B8FD9-2877-DFC6-7498-2698D2AA31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羅素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價值股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(IWD.US)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962BC3C6-B994-107D-0664-307A96F6EA04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Berkshire Hathaway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2.91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多元控股與保險投資集團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JPMorgan &amp; Chase &amp; Co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2.63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美國大型綜合金融集團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Exxon Mobil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2.36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全球綜合能源龍頭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1.95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搜尋引擎與雲端平台龍頭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Johnson &amp; Johnson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1.94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全球醫療保健與製藥龍頭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FB31B346-64AE-F83E-9B61-7FDD962606F8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D8B3A7E-9765-4400-F60A-EC08C6162342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https://finance.yahoo.com/quote/IWD/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CB3F50F-D46C-96E9-E132-5400D87E648F}"/>
              </a:ext>
            </a:extLst>
          </p:cNvPr>
          <p:cNvSpPr txBox="1"/>
          <p:nvPr/>
        </p:nvSpPr>
        <p:spPr>
          <a:xfrm>
            <a:off x="537220" y="1062248"/>
            <a:ext cx="3960001" cy="241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Russell 1000 Value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投資標的是具價值特性的美國大型與中型股票，通常涵蓋金融、醫療保健、工業、能源及核心消費等成熟產業。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特色是可布局相對低估值、現金流較穩定的美國大型價值股，適合作為收益、防禦與景氣循環配置工具；但在科技成長股強勢時，表現可能相對落後。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6F01369-C63D-D44D-EE36-092FB57D70F0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5DA35C-AF71-C9B2-F09B-62F253B71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7390"/>
            <a:ext cx="3960000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0BF07F5-098E-AB45-C5AE-C436A94D7F57}"/>
              </a:ext>
            </a:extLst>
          </p:cNvPr>
          <p:cNvGraphicFramePr>
            <a:graphicFrameLocks/>
          </p:cNvGraphicFramePr>
          <p:nvPr/>
        </p:nvGraphicFramePr>
        <p:xfrm>
          <a:off x="4607154" y="1237266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4316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5007C-4212-6030-B899-9E1F2AD5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E7B0FE0F-F8C7-B4A1-AC7C-A870C9ACCBA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標普金屬與礦產業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(XME.US)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C1CF498F-025E-A53E-DB5D-D086DFB6D929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67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Warrior Met Coal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5.02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冶金煤生產商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Core Natural Resources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4.99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美國煤炭與天然資源公司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Alcoa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全球鋁業生產商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Reliance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金屬加工與配送服務商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Nucor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美國鋼鐵製造龍頭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9CC6F2C2-7AD9-A291-23B2-B4C24D70F09A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61E4649-FF47-0E02-2721-B2B42BE7DEB7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https://finance.yahoo.com/quote/XME/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00D9CD0-A2D8-E481-16DC-6EDC50066377}"/>
              </a:ext>
            </a:extLst>
          </p:cNvPr>
          <p:cNvSpPr txBox="1"/>
          <p:nvPr/>
        </p:nvSpPr>
        <p:spPr>
          <a:xfrm>
            <a:off x="537220" y="1062248"/>
            <a:ext cx="3960001" cy="241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Metals and Mining Select Industry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投資標的是美國金屬與礦業相關公司，涵蓋鋼鐵、鋁、銅、煤炭、黃金、白銀及多元金屬礦業。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特色是可參與金屬與礦產價格循環，受惠於基礎建設、製造業、能源轉型及原物料需求回升；但產業景氣循環明顯，表現容易受商品價格、美元走勢與全球需求影響。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21E05DF-40E1-03D4-F121-8E176B12DCAA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A585896-E24C-9592-371E-167CB7A3B0C8}"/>
              </a:ext>
            </a:extLst>
          </p:cNvPr>
          <p:cNvGraphicFramePr>
            <a:graphicFrameLocks/>
          </p:cNvGraphicFramePr>
          <p:nvPr/>
        </p:nvGraphicFramePr>
        <p:xfrm>
          <a:off x="4536847" y="1234261"/>
          <a:ext cx="4111139" cy="2744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1195103-6516-CE3B-FCED-621EB3E1E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20" y="4163611"/>
            <a:ext cx="3999627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560BFA7-26FC-605A-9D8B-50AE9A6D58EB}"/>
              </a:ext>
            </a:extLst>
          </p:cNvPr>
          <p:cNvGraphicFramePr>
            <a:graphicFrameLocks/>
          </p:cNvGraphicFramePr>
          <p:nvPr/>
        </p:nvGraphicFramePr>
        <p:xfrm>
          <a:off x="4646780" y="1216565"/>
          <a:ext cx="400120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02955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F835-F3F2-C308-5C75-46568698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1C99B2EE-4482-F6D8-1D1A-747FAC04E1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Vanguard FTSE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新興市場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(VWO.US)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0D140833-0FAA-BCCA-1E84-56722D525D43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TSMC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12.85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全球晶圓代工龍頭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Tencent Holdings Limited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3.57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中國社群娛樂與遊戲龍頭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Alibaba Group Holding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2.56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Reliance Industries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0.90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印度能源、電信與零售集團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00939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0.86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中國建設銀行，大型國有銀行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F62388B4-7B2A-4B4A-F851-198F124F3B87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6970DEA-4127-BAE4-55A2-96FACBC25EF6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https://finance.yahoo.com/quote/VWO/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C8BF5B7-EA36-F6B4-516E-C7B3A1B674B9}"/>
              </a:ext>
            </a:extLst>
          </p:cNvPr>
          <p:cNvSpPr txBox="1"/>
          <p:nvPr/>
        </p:nvSpPr>
        <p:spPr>
          <a:xfrm>
            <a:off x="537220" y="1062248"/>
            <a:ext cx="3960001" cy="266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2005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FTSE Emerging Markets All Cap China A Inclusion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投資標的是全球新興市場大型、中型及小型股票，涵蓋中國、印度、台灣、巴西、南非及其他新興市場。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特色是以低成本方式布局新興市場成長機會，涵蓋科技製造、金融、消費、能源及原物料等產業；但波動較高，容易受匯率、政策風險、美元利率與外資流向影響。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E437F16-903B-D840-C149-1ED14A7B8092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C54AF8-92E3-0C4B-2CD5-5DC44D76C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57133"/>
            <a:ext cx="3960000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79D6D62-6E8E-0416-4099-F39F2B65F521}"/>
              </a:ext>
            </a:extLst>
          </p:cNvPr>
          <p:cNvGraphicFramePr>
            <a:graphicFrameLocks/>
          </p:cNvGraphicFramePr>
          <p:nvPr/>
        </p:nvGraphicFramePr>
        <p:xfrm>
          <a:off x="4607154" y="1235415"/>
          <a:ext cx="39996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70491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DA0A-FB9A-EFF8-406F-B15D29D5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F8122BC3-D1DF-9DB2-29EA-4AB7C7E545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 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全亞洲不含日本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(AAXJ.US)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3C07E31A-EE99-66A0-7C8E-64BE8B27A484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TSMC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15.20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全球晶圓代工龍頭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Samsung Electronics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5.78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記憶體與消費電子龍頭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Tencent Holdings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4.40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中國社群娛樂與遊戲龍頭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SK Hynix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記憶體半導體大廠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Alibaba Group Holding Limited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2.92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C7B0EA63-6200-4215-4B2D-A64A08B1316E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2BC49C9-5FA9-465A-4C15-05AF9A38FF1E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https://finance.yahoo.com/quote/AAXJ/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03895F-C54B-2573-21B6-5A0C1DEFF878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AC Asia ex Japan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投資標的是日本以外亞洲市場的大型與中型股票，涵蓋中國、台灣、印度、韓國及東南亞等市場。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特色是可一次布局亞洲區域成長動能，受惠於半導體供應鏈、印度內需、中國平台經濟與亞洲消費升級；但區域集中度較高，需留意匯率、地緣政治及各國政策變化。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FFE82AA-904B-679E-5AA1-BE36709FF2CF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DBBED-C13D-9377-800E-19592F93F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20" y="4157133"/>
            <a:ext cx="3999627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C529B0C-5CFD-A0D1-C250-4B8E94E49206}"/>
              </a:ext>
            </a:extLst>
          </p:cNvPr>
          <p:cNvGraphicFramePr>
            <a:graphicFrameLocks/>
          </p:cNvGraphicFramePr>
          <p:nvPr/>
        </p:nvGraphicFramePr>
        <p:xfrm>
          <a:off x="4572000" y="1237266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70710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11F7-2807-5F70-B833-CF9939AD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2F0E0719-B51F-A71C-FC37-96706A8AEF9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698610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Harvest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滬深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300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中國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股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(ASHR.US)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86E2E5BA-00F0-FE67-2600-07FAFEAE424C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Contemporary Amperex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4.38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全球動力電池龍頭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Kweichow Moutai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3.71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中國高端白酒龍頭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Zhongji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Innolight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2.62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光通訊模組與資料中心設備商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Ping An Insurance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2.50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中國大型保險金融集團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Zijin Mining Group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2.22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全球黃金與銅礦業公司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B963DE1-5482-AE84-C718-A54475975020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6D18723-8A43-A42A-A8F9-2EFB173CD980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https://finance.yahoo.com/quote/ASHR/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3391754-79E4-3A35-A7A0-C663C5B6E515}"/>
              </a:ext>
            </a:extLst>
          </p:cNvPr>
          <p:cNvSpPr txBox="1"/>
          <p:nvPr/>
        </p:nvSpPr>
        <p:spPr>
          <a:xfrm>
            <a:off x="537220" y="1062248"/>
            <a:ext cx="3960001" cy="241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2013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CSI 300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投資標的是上海與深圳交易所上市的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檔大型與中型中國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股，涵蓋金融、消費、工業、醫療、科技及能源等產業。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特色是提供中國境內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股市場曝險，可參與中國本土消費、政策刺激、製造升級及金融市場發展；但單一中國市場風險較高，表現受政策、人民幣匯率與投資人情緒影響較大。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8A5984E-6319-59C2-C33F-DC0E2C4C1D87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09B32-37C8-5D3F-8F8D-04AAFE272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77390"/>
            <a:ext cx="3981477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9FFDC2E-32EE-AA05-BEFE-ED551EABE8E8}"/>
              </a:ext>
            </a:extLst>
          </p:cNvPr>
          <p:cNvGraphicFramePr>
            <a:graphicFrameLocks/>
          </p:cNvGraphicFramePr>
          <p:nvPr/>
        </p:nvGraphicFramePr>
        <p:xfrm>
          <a:off x="4572000" y="1235415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33250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2FE05-0D9E-3B40-1C2C-1E4D6A5D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145A12DC-49CD-66D4-CD4C-0233A44AB30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標普油氣開採與生產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(XOP.US)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B5DCF334-24D8-E9AD-15D2-A6574334AA40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3.00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美國油氣探勘與生產商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2.95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液化天然氣出口商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SM Energy Company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2.84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美國頁岩油氣生產商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Murphy Oil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2.83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全球油氣探勘與生產公司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Occidental Petroleum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2.73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美國大型油氣生產商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57B46E7-ECD3-C544-C8D0-01002D967F29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E7B3641-BF80-1B3B-9037-9EA682DE69EC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https://finance.yahoo.com/quote/XOP/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26F7256-2081-2A27-B239-7156317B11E7}"/>
              </a:ext>
            </a:extLst>
          </p:cNvPr>
          <p:cNvSpPr txBox="1"/>
          <p:nvPr/>
        </p:nvSpPr>
        <p:spPr>
          <a:xfrm>
            <a:off x="537220" y="1062248"/>
            <a:ext cx="3960001" cy="241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Oil &amp; Gas Exploration &amp; Production Select Industry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投資標的是美國石油與天然氣探勘、生產及相關能源公司。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特色是可參與油氣價格與能源供需循環，成分股對原油、天然氣價格及美國頁岩油氣活動敏感；但波動度較高，若油價下跌或能源投資放緩，淨值可能明顯承壓。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9C8A0E7-3DE0-D387-55D9-AA5E4D60ED93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09340-7B0D-5557-1213-C99805A4F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77390"/>
            <a:ext cx="3981477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2BF0695-B605-694F-6303-3931C466EDFA}"/>
              </a:ext>
            </a:extLst>
          </p:cNvPr>
          <p:cNvGraphicFramePr>
            <a:graphicFrameLocks/>
          </p:cNvGraphicFramePr>
          <p:nvPr/>
        </p:nvGraphicFramePr>
        <p:xfrm>
          <a:off x="4607155" y="1237266"/>
          <a:ext cx="404083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06298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4DB80-93F6-A544-1ACB-3FBD0E04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24C680F-96EC-EE2F-5504-A7605894D70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65864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Vanguard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總體國際債券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(BNDX.US)</a:t>
            </a:r>
            <a:endParaRPr lang="zh-TW" altLang="en-US" sz="3000" b="1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08B6BBA-D505-9141-1847-48B148A396DD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https://finance.yahoo.com/quote/BNDX/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BC6D9E0-9128-2A60-D6B0-F388CFD70287}"/>
              </a:ext>
            </a:extLst>
          </p:cNvPr>
          <p:cNvSpPr txBox="1"/>
          <p:nvPr/>
        </p:nvSpPr>
        <p:spPr>
          <a:xfrm>
            <a:off x="537220" y="1062248"/>
            <a:ext cx="3960001" cy="266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2013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Bloomberg Global Aggregate ex-USD Float Adjusted RIC Capped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（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Hedged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），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投資標的是美國以外、非美元計價的投資等級固定收益債券，並進行美元避險。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特色是可分散美國債券市場曝險，提供全球投資等級債券配置；由於採美元避險，可降低外匯波動影響，但仍受各國利率政策、信用利差及全球債市資金流向影響。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EAE5516-292B-A2ED-0E85-41D73B151791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77C45DCE-0DB8-056A-FB3C-587E91E2B503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+ 0.18%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+ 1.59%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+ 4.01%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4" name="矩形 18">
            <a:extLst>
              <a:ext uri="{FF2B5EF4-FFF2-40B4-BE49-F238E27FC236}">
                <a16:creationId xmlns:a16="http://schemas.microsoft.com/office/drawing/2014/main" id="{17A76E63-E4E5-E462-7B44-D4B785B49B31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A771DC-DEBF-53CD-0099-E528BC3ECC9E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CB0332-85CB-1517-5525-E5DFC8A2ABE4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8.50年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EF1932-A37A-037F-851A-BB7F9630A4C4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6.70年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157CD2-78C9-E80B-C326-DD0511EBC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20" y="4168192"/>
            <a:ext cx="3999627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91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8A78-E67B-1F16-01F1-52AD36A8A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BB928188-493E-1279-B520-C2F044266A1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9060920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J.P. Morgan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新興市場美元債券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(EMB.US)</a:t>
            </a:r>
            <a:endParaRPr lang="zh-TW" altLang="en-US" sz="3000" b="1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B54102A-6FEA-72C9-5457-7383E0676552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https://finance.yahoo.com/quote/EMB/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B4E5E28-08F0-2C04-683A-6B59EBC54D74}"/>
              </a:ext>
            </a:extLst>
          </p:cNvPr>
          <p:cNvSpPr txBox="1"/>
          <p:nvPr/>
        </p:nvSpPr>
        <p:spPr>
          <a:xfrm>
            <a:off x="537220" y="1062248"/>
            <a:ext cx="3960001" cy="2175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2007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J.P. Morgan EMBI Global Core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投資標的是美元計價的新興市場主權及準主權債券。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特色是提供新興市場美元債收益來源，殖利率通常高於已開發市場公債，適合追求收益與國家債券分散配置的投資人；但需承擔新興市場主權信用、政治風險與美元利率波動。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157DB2A-00C6-5596-A4AC-B7F9B4F6185F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5E40410B-8E26-C36E-B8D8-E2B053E30223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+ 1.02%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+ 12.26%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+ 9.57%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4" name="矩形 18">
            <a:extLst>
              <a:ext uri="{FF2B5EF4-FFF2-40B4-BE49-F238E27FC236}">
                <a16:creationId xmlns:a16="http://schemas.microsoft.com/office/drawing/2014/main" id="{26FF056B-83B8-C3E3-5EC1-A8F43450E540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BE5615-7724-6E23-2304-9B2E55A4A758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平均信評BB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B7BB7A-EF91-6979-3C0C-863B8B6C4EBE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10.90年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EC4D0B-2DCD-B9C8-9A02-D88170C85B56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6.61年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BE329C-19BF-0262-3AD9-71D094F24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8192"/>
            <a:ext cx="3960000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39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9EBF-8181-936E-0851-1D6D8DADE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5595F431-2C82-F5A3-80CC-3914AB49D58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65864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 err="1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iBoxx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非投資等級公司債券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(HYG.US)</a:t>
            </a:r>
            <a:endParaRPr lang="zh-TW" altLang="en-US" sz="3000" b="1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3BDA625-0657-73A1-64C3-3169A760EC93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https://finance.yahoo.com/quote/HYG/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4E7B6F5-D53F-4BDA-AB72-7933E7E4770C}"/>
              </a:ext>
            </a:extLst>
          </p:cNvPr>
          <p:cNvSpPr txBox="1"/>
          <p:nvPr/>
        </p:nvSpPr>
        <p:spPr>
          <a:xfrm>
            <a:off x="537220" y="1062248"/>
            <a:ext cx="3960001" cy="241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2007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Markit </a:t>
            </a:r>
            <a:r>
              <a:rPr lang="en-GB" altLang="zh-TW" sz="1400" dirty="0" err="1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iBoxx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USD Liquid High Yield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投資標的是美元計價的高收益公司債，涵蓋低於投資等級的美國企業債券。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特色是提供較高債息收入，適合偏好收益型配置並能承受較高信用風險的投資人；但景氣轉弱或信用利差擴大時，高收益債價格可能明顯下跌，違約風險也高於投資等級債券。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TW" altLang="en-US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1454FC6-6AB2-EE32-6A55-BFD9467090F0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F9713184-44DE-07E4-6B85-FA9A7B033EE3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+ 1.28%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+ 8.38%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+ 8.58%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4" name="矩形 18">
            <a:extLst>
              <a:ext uri="{FF2B5EF4-FFF2-40B4-BE49-F238E27FC236}">
                <a16:creationId xmlns:a16="http://schemas.microsoft.com/office/drawing/2014/main" id="{EFF14A23-E9A2-5B06-D3D3-965049B01D65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DA82A8-6664-8F91-7EC6-9C9C4509F557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94D4CC-9B42-3C91-BB39-2F000ED45511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3.62年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D07936-388A-D227-66CE-5A5532B628B3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12.10年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1B75E-90E7-E40A-2ED2-FA910CC52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8192"/>
            <a:ext cx="3960000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58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641EA-41C5-9486-3FB4-516EB77C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4899948B-A436-0E76-2B52-BCD7843DBD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 ESG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感知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(ESGU.US)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C5C794D4-E860-AB7C-79DA-9C90A9DEAE0C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7.48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6.47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雲端與企業軟體龍頭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4.19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搜尋引擎與雲端平台龍頭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3.42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D41E577-8EA1-F1AE-2E8E-3EF08F6A8616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5E9E6A9-B08D-D647-8BB3-AA21694ADBB1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https://finance.yahoo.com/quote/ESGU/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C1944B1-B427-488C-3ADD-CDC7B91E3862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USA Extended ESG Focus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投資標的是具較佳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ESG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特徵、且整體風險報酬接近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USA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母指數的美國大型與中型企業，費用率為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0.15%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成分股以美國大型企業為主，涵蓋科技、金融、醫療保健、非必需消費與通訊服務等產業；特色是兼顧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ESG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篩選與美股核心曝險，適合作為傳統美股配置的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ESG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替代工具。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D53E342-FE88-EB2E-343F-6104D72EE4E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167183-B27E-7E88-74F1-F31DC8483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3234"/>
            <a:ext cx="3960000" cy="223200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836D4AB-4E22-4A72-534F-F6DFB72456E4}"/>
              </a:ext>
            </a:extLst>
          </p:cNvPr>
          <p:cNvGraphicFramePr>
            <a:graphicFrameLocks/>
          </p:cNvGraphicFramePr>
          <p:nvPr/>
        </p:nvGraphicFramePr>
        <p:xfrm>
          <a:off x="4607154" y="1237266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55621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2070-6CAE-79E6-BF98-92EFF378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E94C8B19-1AFA-5B83-7761-7C502B6AD38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 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美國動能因子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(MTUM.US)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D3790F35-1245-8B39-87EA-9CAC36599F45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4.79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4.73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半導體與基礎設施軟體龍頭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Johnson &amp; Johnson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4.72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全球醫療保健與製藥龍頭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Exxon Mobil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4.46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全球綜合能源龍頭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Micron Technology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4.29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記憶體與儲存晶片大廠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CBDCA43-0653-4E1B-54D2-DA6CED3E0492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AD6BB59-2914-5596-C738-07A56F9C7847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https://finance.yahoo.com/quote/MTUM/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FB9B51E-E11E-B933-ECA2-158990B7BFF0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2013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USA Momentum SR Variant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投資標的是近期價格動能相對較強的美國大型與中型股票，費用率為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0.15%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成分股會隨市場趨勢與價格動能調整，通常集中於當期表現較強的產業與個股；特色是可參與強勢股延續行情，適合用於因子配置或趨勢型投資策略。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投資組合產業配置變動較快，若市場風格快速反轉，動能因子可能出現回撤。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8B64724-51AA-8DB0-5C50-8BBEB80FA2AC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55374B-E442-344F-1D89-9BF736359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3234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EF117D-FB29-3DA1-87F0-0A08403C0C67}"/>
              </a:ext>
            </a:extLst>
          </p:cNvPr>
          <p:cNvGraphicFramePr>
            <a:graphicFrameLocks/>
          </p:cNvGraphicFramePr>
          <p:nvPr/>
        </p:nvGraphicFramePr>
        <p:xfrm>
          <a:off x="4607154" y="1201088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85288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E1662-1B21-299B-FD3D-5C9E8927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25C75F01-E78D-8D09-5CA3-447CBAC270A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71240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投資組合標普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高股利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(SPYD.US)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B30F6B81-F5AA-6887-6C70-8D589B41C4BB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1.96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美國油氣探勘與生產商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LyondellBasell Industries N.V.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1.91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全球化工與塑料材料公司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Dow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1.80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全球特種化學與材料公司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EOG Resources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1.64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美國頁岩油氣生產龍頭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Phillips 66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1.58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煉油與中游能源公司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0110FEB-FF3A-C4F3-4802-755D85E5B022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A94D87E-C186-2895-A6CE-F14FB705FC0B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https://finance.yahoo.com/quote/SPYD/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DF7CFB2-5646-079C-B61F-72D6542B9106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2015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 High Dividend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中股息殖利率較高的成分股，費用率為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0.07%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特色是聚焦高股息收益，成分股多為成熟產業公司，涵蓋金融、公用事業、能源、房地產及核心消費等板塊，適合偏好現金流與收益型配置的投資人。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投資組合相較大盤更偏價值與高股利風格，通常成長性較低；若利率上升或高股息產業承壓，股價表現可能落後科技成長股。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4F05E25-8338-DBF2-2E60-1F815F4EFAAC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95F59-82AA-0F72-730C-5B1B05F1F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2619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6DFD0FC-C3E7-73CB-9600-6763BFE45DD4}"/>
              </a:ext>
            </a:extLst>
          </p:cNvPr>
          <p:cNvGraphicFramePr>
            <a:graphicFrameLocks/>
          </p:cNvGraphicFramePr>
          <p:nvPr/>
        </p:nvGraphicFramePr>
        <p:xfrm>
          <a:off x="4607154" y="1216565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40292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B8B7-7236-F1E2-901B-85324CF6F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B05F76CF-4D94-CF31-67F2-E9A7E65FF58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VanEck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晨星寬護城河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(MOAT.US)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73FF0CF1-3FB8-E818-5C45-8654D0C875A4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Bristol-Myers Squibb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2.92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全球創新製藥公司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Mondelez International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2.83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全球創新製藥公司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Constellation Brands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2.82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高端酒類品牌公司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Kenvue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2.73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消費保健與個人護理公司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Brown-Forman Corp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2.70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全球烈酒品牌公司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BA0936F-FA0F-9DE0-946B-1BF971AB5620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B2907D3-693B-79EF-EC8D-2B8524142120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https://finance.yahoo.com/quote/MOAT/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802E4A8-0DF1-1B07-6FF4-745B40AE522B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Morningstar Wide Moat Focus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Morningstar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評估具持久競爭優勢、且估值具吸引力的美國企業，費用率約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0.46%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特色是結合「寬護城河」與估值紀律，篩選具品牌、成本優勢、網絡效應、轉換成本或無形資產等競爭壁壘的企業，適合作為品質型美股配置工具。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投資組合通常較一般大盤集中，並會依估值與護城河評估調整持股。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2E472E8-0D0A-FD15-2F02-EA851846A044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65A9FF-2069-2447-9F64-A8B4E6D1F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3234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2BE3FA2-A99C-35C7-FC50-FACFF999BCDC}"/>
              </a:ext>
            </a:extLst>
          </p:cNvPr>
          <p:cNvGraphicFramePr>
            <a:graphicFrameLocks/>
          </p:cNvGraphicFramePr>
          <p:nvPr/>
        </p:nvGraphicFramePr>
        <p:xfrm>
          <a:off x="4607155" y="1237266"/>
          <a:ext cx="404083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97703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941BA-402D-BE2A-189E-AD970E72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DA94ECA0-BF27-5520-68FC-28E1A75FA55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7" y="290377"/>
            <a:ext cx="8812685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美國最小波動率因子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(USMV.US)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520F981B-98EA-BACE-5118-2AB3157CB44C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Exxon Mobil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1.79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全球綜合能源龍頭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Duke Energy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1.60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美國大型電力與天然氣公用事業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Verizon Communications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1.58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美國大型電信服務商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Cisco Systems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1.56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網路設備與企業通訊龍頭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Southern Company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1.56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美國大型電力公用事業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AC90F0FD-2482-F5AB-5F2D-87317147EA84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FD40C3F-BE1A-4D79-93B1-69997B7F2D57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https://finance.yahoo.com/quote/USMV/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CF99CE0-A162-EBC2-5E8E-2F07FDB450C0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USA Minimum Volatility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投資標的是波動度相對較低的美國大型與中型股票，費用率為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0.15%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特色是透過低波動因子降低投資組合波動，成分股多偏向防禦型與穩定獲利企業，適合希望參與美股市場但降低下行波動的投資人。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投資組合在市場大幅上漲、風險偏好升溫或高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Beta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成長股領漲時，可能相對落後；但在市場震盪或景氣轉弱時，通常具較佳防禦性。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1A147C9-4314-8D8F-944F-87FBF2F5AF13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2FDCD-7BE3-EE4E-48A7-1853607C1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3234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8FAF0AC-80FD-7EE2-0C5B-9676EAB240CC}"/>
              </a:ext>
            </a:extLst>
          </p:cNvPr>
          <p:cNvGraphicFramePr>
            <a:graphicFrameLocks/>
          </p:cNvGraphicFramePr>
          <p:nvPr/>
        </p:nvGraphicFramePr>
        <p:xfrm>
          <a:off x="4572000" y="1237266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14467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3B0FA-D3FD-F5AD-A934-7892E0B9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757CE9A8-D2CA-F7C4-FB4E-93784E9AC44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First Trust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納斯達克網路安全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(CIBR.US)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F4956667-7913-828B-1C1F-98E54BB7840A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Palo Alto Networks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8.46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全球資安平台龍頭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CrowdStrike Holdings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8.24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雲端端點資安龍頭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Cisco Systems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7.67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網路設備與企業通訊龍頭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7.61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半導體與基礎設施軟體龍頭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Fortinet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7.39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網路安全設備與防火牆龍頭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A295964B-2374-E7F3-F61A-4B042FC94AF9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BCDB2BA-D225-90E6-593A-243EC45ED9FF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https://finance.yahoo.com/quote/CIBR/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94B64EC-BCF5-4642-B005-2AF694C95588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2015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Nasdaq CTA Cybersecurity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投資標的是網路安全軟體、硬體與服務相關企業，費用率約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0.58%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特色是聚焦網路安全主題，受惠於企業雲端化、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應用、資料外洩風險、勒索軟體攻擊與監管要求提升，適合作為資安產業主題型配置工具。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投資組合偏科技與成長型產業，對估值、企業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IT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支出與資安預算變化較敏感。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66DA9BD-4813-A62A-0C53-E969778AF500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06922-5156-71F3-8C01-4A2716C3F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1989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EFB0B37-FF3A-2664-37E2-68AA78601D62}"/>
              </a:ext>
            </a:extLst>
          </p:cNvPr>
          <p:cNvGraphicFramePr>
            <a:graphicFrameLocks/>
          </p:cNvGraphicFramePr>
          <p:nvPr/>
        </p:nvGraphicFramePr>
        <p:xfrm>
          <a:off x="4607154" y="1237266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6346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9756-E185-DA3F-CC44-9F00A344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35C0C8E6-C4DF-F8E9-4D0B-57273D4BB90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65864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短期美國公債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(SHV.US)</a:t>
            </a:r>
            <a:endParaRPr lang="zh-TW" altLang="en-US" sz="3000" b="1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DF0C25F-A2B1-5929-5D8B-7C776C52669B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https://finance.yahoo.com/quote/SHV/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20633F0-740A-F2CC-76E0-835F2A47DF88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2007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ICE Short US Treasury Securities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投資標的是剩餘期限約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年以內的美國短期公債，費用率為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0.15%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特色是利率敏感度低、信用風險相對低，適合作為現金管理、短期資金停泊與低波動收益配置工具，並採月配息。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投資組合主要風險來自短端利率變化與再投資收益下降；相較中長天期債券，價格波動較低，但資本利得空間也相對有限。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49E8E34-F06A-F086-6463-E279F9421296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3C54D50F-275E-3FC9-267F-D37056E3A7C9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+ 1.13%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+ 3.95%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+ 4.68%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4" name="矩形 18">
            <a:extLst>
              <a:ext uri="{FF2B5EF4-FFF2-40B4-BE49-F238E27FC236}">
                <a16:creationId xmlns:a16="http://schemas.microsoft.com/office/drawing/2014/main" id="{D3FA66C1-3434-C93F-17AE-EF57ADD92B22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B08784-67BC-BD7F-CF08-21D2B7A72575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平均信評AA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89258B-84C9-1EF9-DB3F-E41090076906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0.31年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2EBD73-6864-C567-AAC2-BCD01A16C7DC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0.29年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050FC9-7988-CD5A-D832-32272BB0F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44799"/>
            <a:ext cx="3960000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9499-7582-B84E-FAA9-584B96C44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3151B398-6D68-D3F2-138B-1CDAE878FE9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389604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State Street 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能源精選行業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(XLE.US)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125A9941-FE4B-AB95-476B-1183848058FE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Exxon Mobil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23.74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全球綜合能源龍頭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Chervon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17.30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全球綜合能源龍頭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ConocoPhillips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7.21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全球大型油氣探勘生產商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EOG Resources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4.15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美國頁岩油氣生產龍頭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SLB N.V.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4.06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全球油田服務與能源技術龍頭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35DC580-7C50-F366-53BC-9D835D264ED9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9C1CDB1-933F-04B1-489F-72EA38390BE2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https://finance.yahoo.com/quote/XLE/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813A400-2CB2-4BDF-0C5D-F9CCEBE3860D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Energy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中能源類股，涵蓋綜合能源、油氣探勘生產、煉油、油服與能源設備公司，費用率為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特色是集中布局美國大型能源龍頭，受惠於油價、天然氣價格、能源供需循環與股東回饋，適合作為能源板塊配置工具。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投資組合對原油與天然氣價格高度敏感，若油價下跌、全球需求轉弱或能源利差收斂，淨值可能承壓。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20CBDF-53B0-4152-C46F-4D671834316C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C7DE5F-A970-40B1-B832-7C063EE07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3234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596A96D-3D43-A4A7-A173-61BA55AAEEF4}"/>
              </a:ext>
            </a:extLst>
          </p:cNvPr>
          <p:cNvGraphicFramePr>
            <a:graphicFrameLocks/>
          </p:cNvGraphicFramePr>
          <p:nvPr/>
        </p:nvGraphicFramePr>
        <p:xfrm>
          <a:off x="4607154" y="1237266"/>
          <a:ext cx="4040831" cy="2749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96718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3170-1789-FED1-2623-07F931E2E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51226E30-7A02-4F20-BF3E-A91C120609B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優先股與收益證券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(PFF.US)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A0533AE0-8804-BC4D-40C8-2930FB9D8499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26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BAPA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3.83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Bank of America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優先股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Strategy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2.58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比特幣財務儲備公司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WFCPL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2.33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Wells Fargo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優先股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ALBPA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1.70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Albemarle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優先股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CPN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1.35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Calpine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電力公司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11E0308-4562-DD67-2EB8-6AE6F0675054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C7D8897-3E13-C3BE-9EBA-A93F35B2D897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https://finance.yahoo.com/quote/PFF/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A984AF-1491-27D9-A62D-E4704C06F128}"/>
              </a:ext>
            </a:extLst>
          </p:cNvPr>
          <p:cNvSpPr txBox="1"/>
          <p:nvPr/>
        </p:nvSpPr>
        <p:spPr>
          <a:xfrm>
            <a:off x="537220" y="1062248"/>
            <a:ext cx="3960001" cy="241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2007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年，主要投資美國優先股與收益型證券，提供金融、公用事業、工業及其他企業發行的優先證券曝險，費用率為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0.45%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特色是兼具股票與債券特性，通常收益率高於一般投資等級債券，且採月配息，適合偏好固定收益與現金流配置的投資人。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投資組合以金融機構優先股占比較高，表現受利率、信用利差與金融業風險影響；若利率上升或信用環境惡化，價格波動可能擴大。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2A533EE-A9F3-89BD-4DA8-7634A2673FB8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C7547-D381-71D6-61B6-5C934BC14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3234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F7D6CEB-3BB8-9145-081B-DE735344C7DD}"/>
              </a:ext>
            </a:extLst>
          </p:cNvPr>
          <p:cNvGraphicFramePr>
            <a:graphicFrameLocks/>
          </p:cNvGraphicFramePr>
          <p:nvPr/>
        </p:nvGraphicFramePr>
        <p:xfrm>
          <a:off x="4607155" y="1237266"/>
          <a:ext cx="404083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8731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3586-B67D-E237-7E5E-7E1C6543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1CB542B3-E850-ADA1-2A19-C9F400224FF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165864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Vanguard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短期公債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(VGSH.US)</a:t>
            </a:r>
            <a:endParaRPr lang="zh-TW" altLang="en-US" sz="3000" b="1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2D3C963-6AE8-49B9-B4F4-C130E67C1BDE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https://finance.yahoo.com/quote/VGSH/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974B05-E4F1-623A-2375-D488A321F221}"/>
              </a:ext>
            </a:extLst>
          </p:cNvPr>
          <p:cNvSpPr txBox="1"/>
          <p:nvPr/>
        </p:nvSpPr>
        <p:spPr>
          <a:xfrm>
            <a:off x="537220" y="1062248"/>
            <a:ext cx="3960001" cy="241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2009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Bloomberg U.S. Treasury 1–3 Year Bond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至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年期美國公債，費用率約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0.03%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特色是提供短天期美國政府債曝險，信用風險低，價格波動通常低於中長天期債券，適合作為防禦型與現金替代配置工具。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投資組合對短端利率變化較敏感，若政策利率下行，未來配息收益可能下降；但因存續期間短，利率上行造成的價格壓力相對有限。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EAAD90C-B48B-CE08-5ED2-345B09312DEF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A31BDC95-177D-B5DD-706D-C37A491D7E41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+ 0.51%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+ 3.33%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+ 4.05%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4" name="矩形 18">
            <a:extLst>
              <a:ext uri="{FF2B5EF4-FFF2-40B4-BE49-F238E27FC236}">
                <a16:creationId xmlns:a16="http://schemas.microsoft.com/office/drawing/2014/main" id="{79378434-2E6B-7C33-0983-D01A94B4A270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B68BBF-07C9-70C1-07ED-F64C61EE6FC2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平均信評AAA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4425A70-8B98-8655-41C1-0BC916A502D2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2.00年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D363E0-53E8-EF14-FF1A-77AA09FF4FC8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1.88年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7F085-BEFD-498F-F261-06D5C34F7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44799"/>
            <a:ext cx="3960000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87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44787-FAE3-D238-8A0A-076079BB8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6831E157-822F-F1B2-8FC8-F8F48356505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7" y="290377"/>
            <a:ext cx="8348661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標普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伊斯蘭教法行業除外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(SPUS.US)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3DE2F249-860A-908C-52AA-8E0F48267F8D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13.68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12.03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8.87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雲端與企業軟體龍頭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5.40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搜尋引擎與雲端平台龍頭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4.74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半導體與基礎設施軟體龍頭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9F60444-7EAA-5843-641F-4CD8BB6A6098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72D42FE-196E-E177-5DF7-36FD298DF0E5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https://finance.yahoo.com/quote/SPUS/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D654AD3-9593-216D-B536-230835D06EE1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2019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年，主要追蹤符合伊斯蘭教法篩選的美國大型股票指數，排除不符合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Shariah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原則的產業與高槓桿公司，費用率為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0.45%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特色是提供符合伊斯蘭金融原則的美股大型股配置，通常排除金融、酒精、菸草、博彩、豬肉、傳統債務導向業務等產業，適合有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Shariah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投資需求的投資人。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投資組合因排除部分產業，可能較集中於科技、醫療保健與成長型企業。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1092FAA-82EA-8FE0-680B-F14B8DC18269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EFC0B-4F73-F403-72F2-20A12FA6D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3234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AA1385D-FFCA-1AFA-1A56-0D85C30CBBE1}"/>
              </a:ext>
            </a:extLst>
          </p:cNvPr>
          <p:cNvGraphicFramePr>
            <a:graphicFrameLocks/>
          </p:cNvGraphicFramePr>
          <p:nvPr/>
        </p:nvGraphicFramePr>
        <p:xfrm>
          <a:off x="4607155" y="1237266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50339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6FE5-BC64-C980-D8BD-9EF30B874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69267E42-D33D-28CF-4DC0-0C616C1CC6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Invesco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納斯達克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 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(QQQM.US)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239D98C5-7D20-DB3D-9FEF-3ED52100F18A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67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8.66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7.61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5.62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雲端與企業軟體龍頭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Tesla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3.79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電動車與能源科技龍頭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9DC582B2-D849-8920-98E2-B9935AB986BF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F59CE6C-E527-B9B6-D265-26216478EB8C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https://finance.yahoo.com/quote/QQQM/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D5E0C10-DF85-4325-C005-EBBA83ECC9DA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Nasdaq-100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投資標的是在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Nasdaq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上市、規模最大的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家非金融企業，涵蓋科技、通訊服務、非必需消費及醫療保健等產業。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特色是以較低費用率布局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Nasdaq-100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大型成長股，受惠於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雲端運算、半導體、平台經濟與科技創新趨勢，適合作為長期科技成長配置工具。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投資組合高度集中於大型科技與成長股，對估值、利率與市場風險偏好較敏感。</a:t>
            </a:r>
            <a:endParaRPr lang="en-US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378E257-6261-BF80-C639-E5FDC36C8CB5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8C2AC-CE31-8EA9-37A2-3ED618FAA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1989"/>
            <a:ext cx="3960000" cy="223200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FBB5221-61C1-41CE-1C33-777FF47D3B34}"/>
              </a:ext>
            </a:extLst>
          </p:cNvPr>
          <p:cNvGraphicFramePr>
            <a:graphicFrameLocks/>
          </p:cNvGraphicFramePr>
          <p:nvPr/>
        </p:nvGraphicFramePr>
        <p:xfrm>
          <a:off x="4646780" y="1237266"/>
          <a:ext cx="400120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64980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2963B-1411-B661-D858-A1EB0FCEF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DA694BA-91C7-5CEA-B619-B714FF560CB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美國航太及國防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(ITA.US)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F330D03D-7BBD-7DFA-2ED2-7D0F47D8EECA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GE Aerospace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19.03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航空引擎與航太系統龍頭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RTX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16.55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航太與國防科技龍頭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Boeing Company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8.91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商用飛機與國防航太大廠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General Dynamics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4.77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國防系統與軍用船艦大廠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L3Harris Technologies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國防電子與通訊系統供應商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CF213E85-D31D-553C-FC4E-0059E95A1263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5F378C8-84D1-1B0A-C75C-592AD6F50631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https://finance.yahoo.com/quote/ITA/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2026/5/4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F66B9D3-659F-3FF5-6090-4B038AEEE1F1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Dow Jones U.S. Select Aerospace &amp; </a:t>
            </a:r>
            <a:r>
              <a:rPr lang="en-GB" altLang="zh-TW" sz="1400" dirty="0" err="1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Defense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投資標的是美國航太與國防類股，涵蓋商用飛機、軍用飛機、國防設備、航太零組件與軍工科技公司，費用率為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0.38%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特色是可集中布局美國航太與國防產業，受惠於國防預算提升、地緣政治緊張、飛機交付週期與軍工訂單能見度，適合作為航太國防主題配置工具。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E34888D-C118-F1B9-8913-18EA755BF49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B2221-589F-B131-DD45-5EEC9D7E3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1989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80697CB-1EDA-78DA-A709-4AD07D9571D8}"/>
              </a:ext>
            </a:extLst>
          </p:cNvPr>
          <p:cNvGraphicFramePr>
            <a:graphicFrameLocks/>
          </p:cNvGraphicFramePr>
          <p:nvPr/>
        </p:nvGraphicFramePr>
        <p:xfrm>
          <a:off x="4572000" y="1201088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447477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18394</TotalTime>
  <Words>6013</Words>
  <Application>Microsoft Macintosh PowerPoint</Application>
  <PresentationFormat>On-screen Show (4:3)</PresentationFormat>
  <Paragraphs>813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微軟正黑體</vt:lpstr>
      <vt:lpstr>Arial</vt:lpstr>
      <vt:lpstr>Calibri</vt:lpstr>
      <vt:lpstr>Wingdings</vt:lpstr>
      <vt:lpstr>1_Office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財富管理業務報告</dc:title>
  <dc:creator>劉鍏辰-財富管理部-產品理財規劃處</dc:creator>
  <cp:lastModifiedBy>陳衡穎 Aaron Chen</cp:lastModifiedBy>
  <cp:revision>1610</cp:revision>
  <cp:lastPrinted>2025-06-06T05:45:55Z</cp:lastPrinted>
  <dcterms:created xsi:type="dcterms:W3CDTF">2022-09-19T06:10:07Z</dcterms:created>
  <dcterms:modified xsi:type="dcterms:W3CDTF">2026-05-13T00:08:32Z</dcterms:modified>
</cp:coreProperties>
</file>